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0" y="4572000"/>
            <a:ext cx="2286000" cy="2286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750" y="5238750"/>
            <a:ext cx="1619250" cy="1619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3048000" cy="38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33268"/>
            <a:ext cx="8182012" cy="57539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Level 1 — </a:t>
            </a:r>
            <a:r>
              <a:rPr sz="3600" b="1" i="0">
                <a:solidFill>
                  <a:srgbClr val="FF6200"/>
                </a:solidFill>
                <a:latin typeface="Calibri"/>
              </a:rPr>
              <a:t>EEP Practitioner</a:t>
            </a:r>
            <a:r>
              <a:rPr sz="3600" b="1" i="0">
                <a:solidFill>
                  <a:srgbClr val="FFFFFF"/>
                </a:solidFill>
                <a:latin typeface="Calibri"/>
              </a:rPr>
              <a:t>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3894"/>
            <a:ext cx="2003226" cy="14264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6200">
                    <a:alpha val="90000"/>
                  </a:srgbClr>
                </a:solidFill>
                <a:latin typeface="Calibri"/>
              </a:rPr>
              <a:t>EEP CERTIFICATION PATH · SECTION 1.2.1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1034206"/>
            <a:ext cx="11277600" cy="3143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355" y="1122759"/>
            <a:ext cx="137070" cy="1372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1806" y="1113645"/>
            <a:ext cx="4837343" cy="19460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CCCCCC"/>
                </a:solidFill>
                <a:latin typeface="Calibri"/>
              </a:rPr>
              <a:t>Target completion: </a:t>
            </a:r>
            <a:r>
              <a:rPr sz="1019" b="1" i="0">
                <a:solidFill>
                  <a:srgbClr val="FF6200"/>
                </a:solidFill>
                <a:latin typeface="Calibri"/>
              </a:rPr>
              <a:t>4–6 weeks</a:t>
            </a:r>
            <a:r>
              <a:rPr sz="1019" b="1" i="0">
                <a:solidFill>
                  <a:srgbClr val="CCCCCC"/>
                </a:solidFill>
                <a:latin typeface="Calibri"/>
              </a:rPr>
              <a:t> from onboarding start  ·  All client-facing team members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2389733"/>
            <a:ext cx="3667125" cy="16097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355" y="2557313"/>
            <a:ext cx="335160" cy="33516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355" y="3647777"/>
            <a:ext cx="905321" cy="184993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5775" y="2390775"/>
            <a:ext cx="3648075" cy="16192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87487" y="2641103"/>
            <a:ext cx="209550" cy="1675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62148" y="2662737"/>
            <a:ext cx="117425" cy="10972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FFFF"/>
                </a:solidFill>
                <a:latin typeface="Calibri"/>
              </a:rPr>
              <a:t>R1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355" y="2991445"/>
            <a:ext cx="1631602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FFFFFF"/>
                </a:solidFill>
                <a:latin typeface="Calibri"/>
              </a:rPr>
              <a:t>EDEv4 Introduction Session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355" y="3235523"/>
            <a:ext cx="3287464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92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CCCCCC"/>
                </a:solidFill>
                <a:latin typeface="Calibri"/>
              </a:rPr>
              <a:t>Live 90-minute session covering engagement delivery foundations.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355" y="3412182"/>
            <a:ext cx="2412355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92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CCCCCC"/>
                </a:solidFill>
                <a:latin typeface="Calibri"/>
              </a:rPr>
              <a:t>Async recordings do not satisfy this requirement.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1816" y="3672482"/>
            <a:ext cx="768399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FF6200"/>
                </a:solidFill>
                <a:latin typeface="Calibri"/>
              </a:rPr>
              <a:t>90 min · Live only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59460" y="2389733"/>
            <a:ext cx="3667125" cy="16097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55616" y="2557313"/>
            <a:ext cx="335160" cy="33516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55616" y="3647777"/>
            <a:ext cx="971550" cy="184993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86250" y="2390775"/>
            <a:ext cx="3648075" cy="16192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89748" y="2641103"/>
            <a:ext cx="209550" cy="1675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564409" y="2662737"/>
            <a:ext cx="117425" cy="10972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FFFF"/>
                </a:solidFill>
                <a:latin typeface="Calibri"/>
              </a:rPr>
              <a:t>R2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5616" y="2991445"/>
            <a:ext cx="1601539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FFFFFF"/>
                </a:solidFill>
                <a:latin typeface="Calibri"/>
              </a:rPr>
              <a:t>CEEDS Onboarding Session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5616" y="3235523"/>
            <a:ext cx="283562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92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CCCCCC"/>
                </a:solidFill>
                <a:latin typeface="Calibri"/>
              </a:rPr>
              <a:t>Attend the Client Engagement Excellence Delivery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5616" y="3412182"/>
            <a:ext cx="2889795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92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CCCCCC"/>
                </a:solidFill>
                <a:latin typeface="Calibri"/>
              </a:rPr>
              <a:t>onboarding session introducing core delivery components.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4077" y="3672482"/>
            <a:ext cx="834628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FF6200"/>
                </a:solidFill>
                <a:latin typeface="Calibri"/>
              </a:rPr>
              <a:t>90 min · Facilitated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61870" y="2389733"/>
            <a:ext cx="3667125" cy="16097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58026" y="2557313"/>
            <a:ext cx="335160" cy="33516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85561" y="3471118"/>
            <a:ext cx="857994" cy="184993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86725" y="2390775"/>
            <a:ext cx="3648075" cy="16192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92157" y="2641103"/>
            <a:ext cx="188565" cy="16758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366819" y="2662737"/>
            <a:ext cx="117425" cy="10972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FFFF"/>
                </a:solidFill>
                <a:latin typeface="Calibri"/>
              </a:rPr>
              <a:t>R3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58026" y="2991445"/>
            <a:ext cx="1519088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FFFFFF"/>
                </a:solidFill>
                <a:latin typeface="Calibri"/>
              </a:rPr>
              <a:t>CE Framework Deep-Dive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58026" y="3235523"/>
            <a:ext cx="3227784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92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CCCCCC"/>
                </a:solidFill>
                <a:latin typeface="Calibri"/>
              </a:rPr>
              <a:t>Structured session applying the Client Engagement Framework 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58026" y="3486298"/>
            <a:ext cx="2427535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92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CCCCCC"/>
                </a:solidFill>
                <a:latin typeface="Calibri"/>
              </a:rPr>
              <a:t>real delivery scenarios and practitioner contexts.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54022" y="3495823"/>
            <a:ext cx="721072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FF6200"/>
                </a:solidFill>
                <a:latin typeface="Calibri"/>
              </a:rPr>
              <a:t>60 min · Applied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4129831"/>
            <a:ext cx="3667125" cy="160972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355" y="4297412"/>
            <a:ext cx="335160" cy="33516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3355" y="5387875"/>
            <a:ext cx="942975" cy="180975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5775" y="4133850"/>
            <a:ext cx="3648075" cy="16192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87487" y="4381202"/>
            <a:ext cx="125759" cy="16758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62148" y="4402836"/>
            <a:ext cx="117425" cy="10972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FFFF"/>
                </a:solidFill>
                <a:latin typeface="Calibri"/>
              </a:rPr>
              <a:t>R4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3355" y="4731543"/>
            <a:ext cx="1746944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FFFFFF"/>
                </a:solidFill>
                <a:latin typeface="Calibri"/>
              </a:rPr>
              <a:t>Written Scenario Assessment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3355" y="4975621"/>
            <a:ext cx="3174503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92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CCCCCC"/>
                </a:solidFill>
                <a:latin typeface="Calibri"/>
              </a:rPr>
              <a:t>Two scenarios scored against the rubric. Minimum 80% required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355" y="5152280"/>
            <a:ext cx="3014216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92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CCCCCC"/>
                </a:solidFill>
                <a:latin typeface="Calibri"/>
              </a:rPr>
              <a:t>to pass. One retake permitted after a 72-hour waiting period.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1816" y="5412581"/>
            <a:ext cx="814685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FF6200"/>
                </a:solidFill>
                <a:latin typeface="Calibri"/>
              </a:rPr>
              <a:t>80% min · 1 retake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59460" y="4129831"/>
            <a:ext cx="3667125" cy="1609725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55616" y="4297412"/>
            <a:ext cx="335160" cy="33516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55616" y="5387875"/>
            <a:ext cx="1107430" cy="184993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86250" y="4133850"/>
            <a:ext cx="3648075" cy="161925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889748" y="4381202"/>
            <a:ext cx="188565" cy="16758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4564409" y="4402836"/>
            <a:ext cx="117425" cy="10972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FFFF"/>
                </a:solidFill>
                <a:latin typeface="Calibri"/>
              </a:rPr>
              <a:t>R5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55616" y="4731543"/>
            <a:ext cx="1458962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FFFFFF"/>
                </a:solidFill>
                <a:latin typeface="Calibri"/>
              </a:rPr>
              <a:t>Supervised CEES Session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55616" y="4975621"/>
            <a:ext cx="3223319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92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CCCCCC"/>
                </a:solidFill>
                <a:latin typeface="Calibri"/>
              </a:rPr>
              <a:t>Demonstrate signal language, no-blame framing, and at least one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55616" y="5152280"/>
            <a:ext cx="2633513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92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CCCCCC"/>
                </a:solidFill>
                <a:latin typeface="Calibri"/>
              </a:rPr>
              <a:t>substantive lesson contribution in a live CEES session.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24077" y="5412581"/>
            <a:ext cx="970508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FF6200"/>
                </a:solidFill>
                <a:latin typeface="Calibri"/>
              </a:rPr>
              <a:t>Observed · Behavioral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