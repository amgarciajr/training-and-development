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0"/>
            <a:ext cx="3048000" cy="38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8763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2091" y="350639"/>
            <a:ext cx="1162347" cy="2494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7560" y="224599"/>
            <a:ext cx="4514254" cy="49377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888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6200"/>
                </a:solidFill>
                <a:latin typeface="Calibri"/>
              </a:rPr>
              <a:t>Certification Philosophy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4491" y="404948"/>
            <a:ext cx="857547" cy="14081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9"/>
              </a:lnSpc>
              <a:spcBef>
                <a:spcPts val="0"/>
              </a:spcBef>
              <a:spcAft>
                <a:spcPts val="0"/>
              </a:spcAft>
            </a:pPr>
            <a:r>
              <a:rPr sz="924" b="1" i="0">
                <a:solidFill>
                  <a:srgbClr val="FFFFFF"/>
                </a:solidFill>
                <a:latin typeface="Calibri"/>
              </a:rPr>
              <a:t>EEP · SECTION 1.1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750" y="3438822"/>
            <a:ext cx="2409825" cy="15716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09975" y="3438822"/>
            <a:ext cx="2409825" cy="15716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72200" y="3438822"/>
            <a:ext cx="2409825" cy="15716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34425" y="3438822"/>
            <a:ext cx="2409825" cy="15716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74886" y="3901750"/>
            <a:ext cx="1555402" cy="17666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391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>
                <a:solidFill>
                  <a:srgbClr val="FFFFFF"/>
                </a:solidFill>
                <a:latin typeface="Calibri"/>
              </a:rPr>
              <a:t>BEHAVIORAL STANDARD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5767" y="4146500"/>
            <a:ext cx="1874530" cy="6776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ts val="1354"/>
              </a:lnSpc>
              <a:spcBef>
                <a:spcPts val="0"/>
              </a:spcBef>
              <a:spcAft>
                <a:spcPts val="0"/>
              </a:spcAft>
            </a:pPr>
            <a:r>
              <a:rPr sz="1041" b="0" i="0">
                <a:solidFill>
                  <a:srgbClr val="CCCCCC"/>
                </a:solidFill>
                <a:latin typeface="Calibri"/>
              </a:rPr>
              <a:t>Certification measures</a:t>
            </a:r>
            <a:r>
              <a:rPr sz="1041" b="0" i="0">
                <a:solidFill>
                  <a:srgbClr val="CCCCCC"/>
                </a:solidFill>
                <a:latin typeface="Calibri"/>
              </a:rPr>
              <a:t> demonstrated conduct — not</a:t>
            </a:r>
            <a:r>
              <a:rPr sz="1041" b="0" i="0">
                <a:solidFill>
                  <a:srgbClr val="CCCCCC"/>
                </a:solidFill>
                <a:latin typeface="Calibri"/>
              </a:rPr>
              <a:t> course completion or knowledge</a:t>
            </a:r>
            <a:r>
              <a:rPr sz="1041" b="0" i="0">
                <a:solidFill>
                  <a:srgbClr val="CCCCCC"/>
                </a:solidFill>
                <a:latin typeface="Calibri"/>
              </a:rPr>
              <a:t> recall.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58729" y="3987624"/>
            <a:ext cx="912167" cy="17666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391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>
                <a:solidFill>
                  <a:srgbClr val="FFFFFF"/>
                </a:solidFill>
                <a:latin typeface="Calibri"/>
              </a:rPr>
              <a:t>PREREQUISITE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14477" y="4232374"/>
            <a:ext cx="1922817" cy="59863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ts val="1354"/>
              </a:lnSpc>
              <a:spcBef>
                <a:spcPts val="0"/>
              </a:spcBef>
              <a:spcAft>
                <a:spcPts val="0"/>
              </a:spcAft>
            </a:pPr>
            <a:r>
              <a:rPr sz="1041" b="0" i="0">
                <a:solidFill>
                  <a:srgbClr val="CCCCCC"/>
                </a:solidFill>
                <a:latin typeface="Calibri"/>
              </a:rPr>
              <a:t>Session completion opens the</a:t>
            </a:r>
            <a:r>
              <a:rPr sz="1041" b="0" i="0">
                <a:solidFill>
                  <a:srgbClr val="CCCCCC"/>
                </a:solidFill>
                <a:latin typeface="Calibri"/>
              </a:rPr>
              <a:t> door to assessment — it does not</a:t>
            </a:r>
            <a:r>
              <a:rPr sz="1041" b="0" i="0">
                <a:solidFill>
                  <a:srgbClr val="CCCCCC"/>
                </a:solidFill>
                <a:latin typeface="Calibri"/>
              </a:rPr>
              <a:t> constitute certification itself.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26597" y="3901750"/>
            <a:ext cx="1100881" cy="17666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391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>
                <a:solidFill>
                  <a:srgbClr val="FFFFFF"/>
                </a:solidFill>
                <a:latin typeface="Calibri"/>
              </a:rPr>
              <a:t>EVIDENCE-BASED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783" y="4146500"/>
            <a:ext cx="1852762" cy="6776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ts val="1354"/>
              </a:lnSpc>
              <a:spcBef>
                <a:spcPts val="0"/>
              </a:spcBef>
              <a:spcAft>
                <a:spcPts val="0"/>
              </a:spcAft>
            </a:pPr>
            <a:r>
              <a:rPr sz="1041" b="0" i="0">
                <a:solidFill>
                  <a:srgbClr val="CCCCCC"/>
                </a:solidFill>
                <a:latin typeface="Calibri"/>
              </a:rPr>
              <a:t>All evidence must be observable</a:t>
            </a:r>
            <a:r>
              <a:rPr sz="1041" b="0" i="0">
                <a:solidFill>
                  <a:srgbClr val="CCCCCC"/>
                </a:solidFill>
                <a:latin typeface="Calibri"/>
              </a:rPr>
              <a:t> and verifiable — self-report is</a:t>
            </a:r>
            <a:r>
              <a:rPr sz="1041" b="0" i="0">
                <a:solidFill>
                  <a:srgbClr val="CCCCCC"/>
                </a:solidFill>
                <a:latin typeface="Calibri"/>
              </a:rPr>
              <a:t> never accepted as sufficient</a:t>
            </a:r>
            <a:r>
              <a:rPr sz="1041" b="0" i="0">
                <a:solidFill>
                  <a:srgbClr val="CCCCCC"/>
                </a:solidFill>
                <a:latin typeface="Calibri"/>
              </a:rPr>
              <a:t> proof.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57704" y="3901750"/>
            <a:ext cx="1363116" cy="17666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391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>
                <a:solidFill>
                  <a:srgbClr val="FFFFFF"/>
                </a:solidFill>
                <a:latin typeface="Calibri"/>
              </a:rPr>
              <a:t>SUSTAINED PRACTICE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4794" y="4146500"/>
            <a:ext cx="1849083" cy="6776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ts val="1354"/>
              </a:lnSpc>
              <a:spcBef>
                <a:spcPts val="0"/>
              </a:spcBef>
              <a:spcAft>
                <a:spcPts val="0"/>
              </a:spcAft>
            </a:pPr>
            <a:r>
              <a:rPr sz="1041" b="0" i="0">
                <a:solidFill>
                  <a:srgbClr val="CCCCCC"/>
                </a:solidFill>
                <a:latin typeface="Calibri"/>
              </a:rPr>
              <a:t>Advancement requires repeated</a:t>
            </a:r>
            <a:r>
              <a:rPr sz="1041" b="0" i="0">
                <a:solidFill>
                  <a:srgbClr val="CCCCCC"/>
                </a:solidFill>
                <a:latin typeface="Calibri"/>
              </a:rPr>
              <a:t> demonstration over time — a</a:t>
            </a:r>
            <a:r>
              <a:rPr sz="1041" b="0" i="0">
                <a:solidFill>
                  <a:srgbClr val="CCCCCC"/>
                </a:solidFill>
                <a:latin typeface="Calibri"/>
              </a:rPr>
              <a:t> single strong performance is not</a:t>
            </a:r>
            <a:r>
              <a:rPr sz="1041" b="0" i="0">
                <a:solidFill>
                  <a:srgbClr val="CCCCCC"/>
                </a:solidFill>
                <a:latin typeface="Calibri"/>
              </a:rPr>
              <a:t> enough.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90677" y="5195545"/>
            <a:ext cx="1359991" cy="15873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41" b="1" i="0">
                <a:solidFill>
                  <a:srgbClr val="FFFFFF">
                    <a:alpha val="30000"/>
                  </a:srgbClr>
                </a:solidFill>
                <a:latin typeface="Calibri"/>
              </a:rPr>
              <a:t>EEP CERTIFICATION PATH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1529" y="5195545"/>
            <a:ext cx="671958" cy="15873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41" b="1" i="0">
                <a:solidFill>
                  <a:srgbClr val="FFFFFF">
                    <a:alpha val="30000"/>
                  </a:srgbClr>
                </a:solidFill>
                <a:latin typeface="Calibri"/>
              </a:rPr>
              <a:t>SECTION 1.1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349" y="5195545"/>
            <a:ext cx="1736824" cy="15873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41" b="1" i="0">
                <a:solidFill>
                  <a:srgbClr val="FFFFFF">
                    <a:alpha val="30000"/>
                  </a:srgbClr>
                </a:solidFill>
                <a:latin typeface="Calibri"/>
              </a:rPr>
              <a:t>PHILOSOPHY OF CERTIFICATION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8144" y="2157710"/>
            <a:ext cx="8487359" cy="8015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ts val="3163"/>
              </a:lnSpc>
              <a:spcBef>
                <a:spcPts val="0"/>
              </a:spcBef>
              <a:spcAft>
                <a:spcPts val="0"/>
              </a:spcAft>
            </a:pPr>
            <a:r>
              <a:rPr sz="2592" b="1" i="1">
                <a:solidFill>
                  <a:srgbClr val="FFFFFF"/>
                </a:solidFill>
                <a:latin typeface="Calibri"/>
              </a:rPr>
              <a:t>The program certifies what practitioners </a:t>
            </a:r>
            <a:r>
              <a:rPr sz="2592" b="1" i="1">
                <a:solidFill>
                  <a:srgbClr val="FF6200"/>
                </a:solidFill>
                <a:latin typeface="Calibri"/>
              </a:rPr>
              <a:t>do in the field</a:t>
            </a:r>
            <a:r>
              <a:rPr sz="2592" b="1" i="1">
                <a:solidFill>
                  <a:srgbClr val="FFFFFF"/>
                </a:solidFill>
                <a:latin typeface="Calibri"/>
              </a:rPr>
              <a:t> , </a:t>
            </a:r>
            <a:r>
              <a:rPr sz="2592" b="1" i="1">
                <a:solidFill>
                  <a:srgbClr val="FFFFFF"/>
                </a:solidFill>
                <a:latin typeface="Calibri"/>
              </a:rPr>
              <a:t>not</a:t>
            </a:r>
            <a:r>
              <a:rPr sz="2592" b="1" i="1">
                <a:solidFill>
                  <a:srgbClr val="FFFFFF"/>
                </a:solidFill>
                <a:latin typeface="Calibri"/>
              </a:rPr>
              <a:t> what they know in the room.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46810" y="3075086"/>
            <a:ext cx="3698230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451"/>
              </a:lnSpc>
              <a:spcBef>
                <a:spcPts val="0"/>
              </a:spcBef>
              <a:spcAft>
                <a:spcPts val="0"/>
              </a:spcAft>
            </a:pPr>
            <a:r>
              <a:rPr sz="1209" b="0" i="0">
                <a:solidFill>
                  <a:srgbClr val="CCCCCC"/>
                </a:solidFill>
                <a:latin typeface="Calibri"/>
              </a:rPr>
              <a:t>EEP CERTIFICATION PATH  ·  PHILOSOPHY OF CERTIFICATION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19250" y="1883419"/>
            <a:ext cx="473571" cy="1066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8402"/>
              </a:lnSpc>
              <a:spcBef>
                <a:spcPts val="0"/>
              </a:spcBef>
              <a:spcAft>
                <a:spcPts val="0"/>
              </a:spcAft>
            </a:pPr>
            <a:r>
              <a:rPr sz="8400" b="0" i="0">
                <a:solidFill>
                  <a:srgbClr val="FF6200">
                    <a:alpha val="14000"/>
                  </a:srgbClr>
                </a:solidFill>
                <a:latin typeface="Georgia"/>
              </a:rPr>
              <a:t>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99178" y="2494061"/>
            <a:ext cx="473571" cy="1066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8402"/>
              </a:lnSpc>
              <a:spcBef>
                <a:spcPts val="0"/>
              </a:spcBef>
              <a:spcAft>
                <a:spcPts val="0"/>
              </a:spcAft>
            </a:pPr>
            <a:r>
              <a:rPr sz="8400" b="0" i="0">
                <a:solidFill>
                  <a:srgbClr val="FF6200">
                    <a:alpha val="14000"/>
                  </a:srgbClr>
                </a:solidFill>
                <a:latin typeface="Georgia"/>
              </a:rPr>
              <a:t>”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53542" y="3634978"/>
            <a:ext cx="198090" cy="19809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03415" y="3720851"/>
            <a:ext cx="222944" cy="19809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02698" y="3634978"/>
            <a:ext cx="148679" cy="19809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40217" y="3634978"/>
            <a:ext cx="198090" cy="19809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42049" y="5255865"/>
            <a:ext cx="38100" cy="381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34869" y="5255865"/>
            <a:ext cx="38100" cy="38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