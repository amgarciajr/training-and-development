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4572000"/>
            <a:ext cx="2286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1323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8324" y="565695"/>
            <a:ext cx="1771650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560" y="209270"/>
            <a:ext cx="8938513" cy="9874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latin typeface="Calibri"/>
              </a:rPr>
              <a:t>Certification Summary — The Self-Sustaining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0724" y="628501"/>
            <a:ext cx="147131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924" b="1" i="0">
                <a:solidFill>
                  <a:srgbClr val="FFFFFF"/>
                </a:solidFill>
                <a:latin typeface="Calibri"/>
              </a:rPr>
              <a:t>EEP · VERSION 1.0 · JUNE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3514725"/>
            <a:ext cx="2895600" cy="1943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0425" y="3514725"/>
            <a:ext cx="2895600" cy="1943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3514725"/>
            <a:ext cx="2895600" cy="1943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3514725"/>
            <a:ext cx="2895600" cy="1943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5325219"/>
            <a:ext cx="990600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47416" y="4165740"/>
            <a:ext cx="764678" cy="23774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FF6200"/>
                </a:solidFill>
                <a:latin typeface="Calibri"/>
              </a:rPr>
              <a:t>L3 </a:t>
            </a:r>
            <a:r>
              <a:rPr sz="1872" b="1" i="0">
                <a:solidFill>
                  <a:srgbClr val="FF6200"/>
                </a:solidFill>
                <a:latin typeface="Cambria Math"/>
              </a:rPr>
              <a:t>→ </a:t>
            </a:r>
            <a:r>
              <a:rPr sz="1872" b="1" i="0">
                <a:solidFill>
                  <a:srgbClr val="FF6200"/>
                </a:solidFill>
                <a:latin typeface="Calibri"/>
              </a:rPr>
              <a:t>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1710" y="4447386"/>
            <a:ext cx="1576089" cy="1587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FFFF"/>
                </a:solidFill>
                <a:latin typeface="Calibri"/>
              </a:rPr>
              <a:t>TRAINER-LED CERTIFICATION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7318" y="4671714"/>
            <a:ext cx="1964103" cy="2973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974" b="0" i="0">
                <a:solidFill>
                  <a:srgbClr val="CCCCCC"/>
                </a:solidFill>
                <a:latin typeface="Calibri"/>
              </a:rPr>
              <a:t>No Program Lead dependency at any</a:t>
            </a:r>
            <a:r>
              <a:rPr sz="974" b="0" i="0">
                <a:solidFill>
                  <a:srgbClr val="CCCCCC"/>
                </a:solidFill>
                <a:latin typeface="Calibri"/>
              </a:rPr>
              <a:t> certification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7108" y="4165740"/>
            <a:ext cx="1186755" cy="23774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CC4E00"/>
                </a:solidFill>
                <a:latin typeface="Calibri"/>
              </a:rPr>
              <a:t>Each Cohort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0467" y="4447386"/>
            <a:ext cx="1240035" cy="1587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FFFF"/>
                </a:solidFill>
                <a:latin typeface="Calibri"/>
              </a:rPr>
              <a:t>INCREASES RESILIENCE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5313" y="4671714"/>
            <a:ext cx="1928539" cy="2973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974" b="0" i="0">
                <a:solidFill>
                  <a:srgbClr val="CCCCCC"/>
                </a:solidFill>
                <a:latin typeface="Calibri"/>
              </a:rPr>
              <a:t>Every L3 cohort removes centralized</a:t>
            </a:r>
            <a:r>
              <a:rPr sz="974" b="0" i="0">
                <a:solidFill>
                  <a:srgbClr val="CCCCCC"/>
                </a:solidFill>
                <a:latin typeface="Calibri"/>
              </a:rPr>
              <a:t> bottlenecks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0660" y="4165740"/>
            <a:ext cx="1281112" cy="23774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FF6200"/>
                </a:solidFill>
                <a:latin typeface="Calibri"/>
              </a:rPr>
              <a:t>Built to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1496" y="4447386"/>
            <a:ext cx="1239589" cy="1587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FFFF"/>
                </a:solidFill>
                <a:latin typeface="Calibri"/>
              </a:rPr>
              <a:t>LONGEVITY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2310" y="4671714"/>
            <a:ext cx="2142076" cy="2973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974" b="0" i="0">
                <a:solidFill>
                  <a:srgbClr val="CCCCCC"/>
                </a:solidFill>
                <a:latin typeface="Calibri"/>
              </a:rPr>
              <a:t>Architecture designed for scale from the</a:t>
            </a:r>
            <a:r>
              <a:rPr sz="974" b="0" i="0">
                <a:solidFill>
                  <a:srgbClr val="CCCCCC"/>
                </a:solidFill>
                <a:latin typeface="Calibri"/>
              </a:rPr>
              <a:t>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3587" y="4165740"/>
            <a:ext cx="416867" cy="23774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CC4E00"/>
                </a:solidFill>
                <a:latin typeface="Calibri"/>
              </a:rPr>
              <a:t>v1.0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2327" y="4447386"/>
            <a:ext cx="579387" cy="1587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FFFF"/>
                </a:solidFill>
                <a:latin typeface="Calibri"/>
              </a:rPr>
              <a:t>JUNE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9348" y="4671714"/>
            <a:ext cx="2170435" cy="2973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974" b="0" i="0">
                <a:solidFill>
                  <a:srgbClr val="CCCCCC"/>
                </a:solidFill>
                <a:latin typeface="Calibri"/>
              </a:rPr>
              <a:t>Active delivery standard — program fully</a:t>
            </a:r>
            <a:r>
              <a:rPr sz="974" b="0" i="0">
                <a:solidFill>
                  <a:srgbClr val="CCCCCC"/>
                </a:solidFill>
                <a:latin typeface="Calibri"/>
              </a:rPr>
              <a:t> operational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0671" y="5479256"/>
            <a:ext cx="3157239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1">
                <a:solidFill>
                  <a:srgbClr val="CCCCCC"/>
                </a:solidFill>
                <a:latin typeface="Calibri"/>
              </a:rPr>
              <a:t>Built on original frameworks developed by Mike Garcia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297" y="5479256"/>
            <a:ext cx="1862881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1">
                <a:solidFill>
                  <a:srgbClr val="CCCCCC"/>
                </a:solidFill>
                <a:latin typeface="Calibri"/>
              </a:rPr>
              <a:t>EDEv4  ·  CEEDS  ·  CE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0971" y="2331392"/>
            <a:ext cx="7130057" cy="4000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1">
                <a:solidFill>
                  <a:srgbClr val="FFFFFF"/>
                </a:solidFill>
                <a:latin typeface="Calibri"/>
              </a:rPr>
              <a:t>Practitioners are not just certified by the program 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7198" y="2742902"/>
            <a:ext cx="5440661" cy="4792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1">
                <a:solidFill>
                  <a:srgbClr val="FFFFFF"/>
                </a:solidFill>
                <a:latin typeface="Calibri"/>
              </a:rPr>
              <a:t>they </a:t>
            </a:r>
            <a:r>
              <a:rPr sz="2592" b="1" i="1">
                <a:solidFill>
                  <a:srgbClr val="FF6200"/>
                </a:solidFill>
                <a:latin typeface="Calibri"/>
              </a:rPr>
              <a:t>eventually become the program.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3932" y="3280023"/>
            <a:ext cx="3563987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CCCCCC"/>
                </a:solidFill>
                <a:latin typeface="Calibri"/>
              </a:rPr>
              <a:t>EEP Certification Path · Section 1.1 — Core Design Principle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4500" y="2098030"/>
            <a:ext cx="405854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201"/>
              </a:lnSpc>
              <a:spcBef>
                <a:spcPts val="0"/>
              </a:spcBef>
              <a:spcAft>
                <a:spcPts val="0"/>
              </a:spcAft>
            </a:pPr>
            <a:r>
              <a:rPr sz="7200" b="0" i="0">
                <a:solidFill>
                  <a:srgbClr val="FF6200">
                    <a:alpha val="18000"/>
                  </a:srgbClr>
                </a:solidFill>
                <a:latin typeface="Georgia"/>
              </a:rPr>
              <a:t>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1645" y="2870745"/>
            <a:ext cx="405854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7201"/>
              </a:lnSpc>
              <a:spcBef>
                <a:spcPts val="0"/>
              </a:spcBef>
              <a:spcAft>
                <a:spcPts val="0"/>
              </a:spcAft>
            </a:pPr>
            <a:r>
              <a:rPr sz="7200" b="0" i="0">
                <a:solidFill>
                  <a:srgbClr val="FF6200">
                    <a:alpha val="18000"/>
                  </a:srgbClr>
                </a:solidFill>
                <a:latin typeface="Georgia"/>
              </a:rPr>
              <a:t>”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15604" y="3934420"/>
            <a:ext cx="228451" cy="182909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9105" y="3934420"/>
            <a:ext cx="182760" cy="182909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59835" y="3934420"/>
            <a:ext cx="182760" cy="182909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70715" y="3934420"/>
            <a:ext cx="182760" cy="182909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31666" y="5549949"/>
            <a:ext cx="47625" cy="476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19292" y="5549949"/>
            <a:ext cx="47625" cy="476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12559" y="5549949"/>
            <a:ext cx="47625" cy="476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