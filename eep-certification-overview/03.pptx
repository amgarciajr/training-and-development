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1000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1708" y="604391"/>
            <a:ext cx="1514475" cy="238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6483" y="661541"/>
            <a:ext cx="123527" cy="1096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285750"/>
            <a:ext cx="1839515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200"/>
                </a:solidFill>
                <a:latin typeface="Calibri"/>
              </a:rPr>
              <a:t>EEP CERTIFICATION PATH · SECTION 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8058"/>
            <a:ext cx="5289053" cy="3688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Calibri"/>
              </a:rPr>
              <a:t>Three Certification Levels —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7636" y="652016"/>
            <a:ext cx="113808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/>
                </a:solidFill>
                <a:latin typeface="Calibri"/>
              </a:rPr>
              <a:t>Sequential Advancement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107185"/>
            <a:ext cx="11049000" cy="666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5272980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9197" y="5375820"/>
            <a:ext cx="119955" cy="1372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62075" y="5259585"/>
            <a:ext cx="9944813" cy="356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31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FFFFF"/>
                </a:solidFill>
                <a:latin typeface="Calibri"/>
              </a:rPr>
              <a:t>Sequential Advancement Required:</a:t>
            </a:r>
            <a:r>
              <a:rPr sz="1056" b="0" i="0">
                <a:solidFill>
                  <a:srgbClr val="CCCCCC"/>
                </a:solidFill>
                <a:latin typeface="Calibri"/>
              </a:rPr>
              <a:t> Each level builds on the prior — </a:t>
            </a:r>
            <a:r>
              <a:rPr sz="1056" b="1" i="0">
                <a:solidFill>
                  <a:srgbClr val="FF6200"/>
                </a:solidFill>
                <a:latin typeface="Calibri"/>
              </a:rPr>
              <a:t>completion of the previous certification is a prerequisite</a:t>
            </a:r>
            <a:r>
              <a:rPr sz="1056" b="0" i="0">
                <a:solidFill>
                  <a:srgbClr val="CCCCCC"/>
                </a:solidFill>
                <a:latin typeface="Calibri"/>
              </a:rPr>
              <a:t> for advancement. There are no shortcuts or level-</a:t>
            </a:r>
            <a:r>
              <a:rPr sz="1056" b="0" i="0">
                <a:solidFill>
                  <a:srgbClr val="CCCCCC"/>
                </a:solidFill>
                <a:latin typeface="Calibri"/>
              </a:rPr>
              <a:t> skipping within the EEP framework.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33500" y="2483197"/>
            <a:ext cx="9525000" cy="285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0625" y="2343150"/>
            <a:ext cx="9810750" cy="3143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01350" y="2416522"/>
            <a:ext cx="1143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76400" y="1866900"/>
            <a:ext cx="1238250" cy="1238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45518" y="2509837"/>
            <a:ext cx="100012" cy="114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17539" y="2296537"/>
            <a:ext cx="155823" cy="167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6200"/>
                </a:solidFill>
                <a:latin typeface="Calibri"/>
              </a:rPr>
              <a:t>L1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6750" y="2997547"/>
            <a:ext cx="3257550" cy="1676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725" y="3456533"/>
            <a:ext cx="647700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7725" y="4217491"/>
            <a:ext cx="98970" cy="99119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7725" y="4383881"/>
            <a:ext cx="98970" cy="9911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7725" y="3178522"/>
            <a:ext cx="1057572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EEP Practitioner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450" y="3494633"/>
            <a:ext cx="47982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F6200"/>
                </a:solidFill>
                <a:latin typeface="Calibri"/>
              </a:rPr>
              <a:t>4–6 WEEKS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3754784"/>
            <a:ext cx="2839077" cy="20214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>
                    <a:alpha val="75000"/>
                  </a:srgbClr>
                </a:solidFill>
                <a:latin typeface="Calibri"/>
              </a:rPr>
              <a:t>Audience:</a:t>
            </a:r>
            <a:r>
              <a:rPr sz="960" b="0" i="0">
                <a:solidFill>
                  <a:srgbClr val="CCCCCC"/>
                </a:solidFill>
                <a:latin typeface="Calibri"/>
              </a:rPr>
              <a:t> All onboarding, client-facing team members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3995439"/>
            <a:ext cx="9522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F6200">
                    <a:alpha val="70000"/>
                  </a:srgbClr>
                </a:solidFill>
                <a:latin typeface="Calibri"/>
              </a:rPr>
              <a:t>AUTHORITY GRANTED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795" y="4188916"/>
            <a:ext cx="125908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/>
                </a:solidFill>
                <a:latin typeface="Calibri"/>
              </a:rPr>
              <a:t>CEES Session participation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795" y="4355306"/>
            <a:ext cx="103896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/>
                </a:solidFill>
                <a:latin typeface="Calibri"/>
              </a:rPr>
              <a:t>Scenario contribution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6275" y="3009900"/>
            <a:ext cx="3238500" cy="285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19725" y="1809750"/>
            <a:ext cx="1352550" cy="13525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24562" y="2509837"/>
            <a:ext cx="142875" cy="1143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18014" y="2296537"/>
            <a:ext cx="155823" cy="167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6200"/>
                </a:solidFill>
                <a:latin typeface="Calibri"/>
              </a:rPr>
              <a:t>L2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67225" y="2997547"/>
            <a:ext cx="3257550" cy="1676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48200" y="3456533"/>
            <a:ext cx="1152525" cy="2095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48200" y="4217491"/>
            <a:ext cx="98970" cy="99119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48200" y="4383881"/>
            <a:ext cx="98970" cy="9911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648200" y="3178522"/>
            <a:ext cx="589954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EEP Lead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33925" y="3494633"/>
            <a:ext cx="983009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F6200"/>
                </a:solidFill>
                <a:latin typeface="Calibri"/>
              </a:rPr>
              <a:t>6–9 MONTHS FROM L1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8200" y="3754784"/>
            <a:ext cx="2993750" cy="2101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>
                    <a:alpha val="75000"/>
                  </a:srgbClr>
                </a:solidFill>
                <a:latin typeface="Calibri"/>
              </a:rPr>
              <a:t>Audience:</a:t>
            </a:r>
            <a:r>
              <a:rPr sz="960" b="0" i="0">
                <a:solidFill>
                  <a:srgbClr val="CCCCCC"/>
                </a:solidFill>
                <a:latin typeface="Calibri"/>
              </a:rPr>
              <a:t> L1 practitioners with 6+ months active delivery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8200" y="3995439"/>
            <a:ext cx="9522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F6200">
                    <a:alpha val="70000"/>
                  </a:srgbClr>
                </a:solidFill>
                <a:latin typeface="Calibri"/>
              </a:rPr>
              <a:t>AUTHORITY GRANTED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85270" y="4188916"/>
            <a:ext cx="129540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/>
                </a:solidFill>
                <a:latin typeface="Calibri"/>
              </a:rPr>
              <a:t>Onboard new practitioners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85270" y="4355306"/>
            <a:ext cx="144794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/>
                </a:solidFill>
                <a:latin typeface="Calibri"/>
              </a:rPr>
              <a:t>Co-facilitate new hire sessions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76750" y="3009900"/>
            <a:ext cx="3238500" cy="285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63050" y="1752600"/>
            <a:ext cx="1466850" cy="14668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825037" y="2509837"/>
            <a:ext cx="142875" cy="1143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818489" y="2296537"/>
            <a:ext cx="155823" cy="167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B347"/>
                </a:solidFill>
                <a:latin typeface="Calibri"/>
              </a:rPr>
              <a:t>L3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67700" y="2997547"/>
            <a:ext cx="3257550" cy="183832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48675" y="3456533"/>
            <a:ext cx="1152525" cy="2095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660284" y="3456533"/>
            <a:ext cx="1076325" cy="20955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48675" y="4217491"/>
            <a:ext cx="98970" cy="99119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48675" y="4383881"/>
            <a:ext cx="98970" cy="9911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448675" y="3178522"/>
            <a:ext cx="742652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EEP Trainer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34400" y="3494633"/>
            <a:ext cx="983009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FB347"/>
                </a:solidFill>
                <a:latin typeface="Calibri"/>
              </a:rPr>
              <a:t>3–6 MONTHS FROM L2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46009" y="3494633"/>
            <a:ext cx="91291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FB347"/>
                </a:solidFill>
                <a:latin typeface="Calibri"/>
              </a:rPr>
              <a:t>NOMINATION-BASED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48675" y="3754784"/>
            <a:ext cx="2717823" cy="1949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>
                    <a:alpha val="75000"/>
                  </a:srgbClr>
                </a:solidFill>
                <a:latin typeface="Calibri"/>
              </a:rPr>
              <a:t>Audience:</a:t>
            </a:r>
            <a:r>
              <a:rPr sz="960" b="0" i="0">
                <a:solidFill>
                  <a:srgbClr val="CCCCCC"/>
                </a:solidFill>
                <a:latin typeface="Calibri"/>
              </a:rPr>
              <a:t> L2 Leads nominated as program stewards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48675" y="3995439"/>
            <a:ext cx="9522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F6200">
                    <a:alpha val="70000"/>
                  </a:srgbClr>
                </a:solidFill>
                <a:latin typeface="Calibri"/>
              </a:rPr>
              <a:t>AUTHORITY GRANTED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85745" y="4188916"/>
            <a:ext cx="1095226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/>
                </a:solidFill>
                <a:latin typeface="Calibri"/>
              </a:rPr>
              <a:t>Certify L1 practitioners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85745" y="4355306"/>
            <a:ext cx="236368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/>
                </a:solidFill>
                <a:latin typeface="Calibri"/>
              </a:rPr>
              <a:t>Contributing playbook author; quarterly program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48675" y="4521696"/>
            <a:ext cx="45466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/>
                </a:solidFill>
                <a:latin typeface="Calibri"/>
              </a:rPr>
              <a:t>evolution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277225" y="3009900"/>
            <a:ext cx="3238500" cy="28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