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23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0027"/>
            <a:ext cx="587871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The Six-Dimension Skills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0901"/>
            <a:ext cx="7116663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CCCCCC"/>
                </a:solidFill>
                <a:latin typeface="Calibri"/>
              </a:rPr>
              <a:t>EEP Behavioral Framework — 6 Dimensions · 4 Proficiency Levels · Observable Evidence Required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814214"/>
            <a:ext cx="361950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1941314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1934" y="1976288"/>
            <a:ext cx="2571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411313"/>
            <a:ext cx="361950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2538412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1934" y="2573387"/>
            <a:ext cx="2571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3008411"/>
            <a:ext cx="3619500" cy="514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313551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1934" y="3170485"/>
            <a:ext cx="2571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3605510"/>
            <a:ext cx="3619500" cy="514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3732609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1934" y="3767583"/>
            <a:ext cx="2571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202608"/>
            <a:ext cx="3619500" cy="514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4329707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1934" y="4364682"/>
            <a:ext cx="2571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4799707"/>
            <a:ext cx="3619500" cy="514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4375" y="4926806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1934" y="4961780"/>
            <a:ext cx="2571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500" y="5396805"/>
            <a:ext cx="3619500" cy="11334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0575" y="2017514"/>
            <a:ext cx="1143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0575" y="2614612"/>
            <a:ext cx="11430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6287" y="3211710"/>
            <a:ext cx="142875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7718" y="3808809"/>
            <a:ext cx="100012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0575" y="4405907"/>
            <a:ext cx="114300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03431" y="5003006"/>
            <a:ext cx="128587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0505" y="5526285"/>
            <a:ext cx="127992" cy="1279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91500" y="1470719"/>
            <a:ext cx="162639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FF6200"/>
                </a:solidFill>
                <a:latin typeface="Calibri"/>
              </a:rPr>
              <a:t>6 RUBRIC DIMENSIONS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85215" y="2000994"/>
            <a:ext cx="15820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FF6200"/>
                </a:solidFill>
                <a:latin typeface="Calibri"/>
              </a:rPr>
              <a:t>L1+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85215" y="2598092"/>
            <a:ext cx="15820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FF6200"/>
                </a:solidFill>
                <a:latin typeface="Calibri"/>
              </a:rPr>
              <a:t>L1+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85215" y="3195191"/>
            <a:ext cx="15820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FF6200"/>
                </a:solidFill>
                <a:latin typeface="Calibri"/>
              </a:rPr>
              <a:t>L1+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85215" y="3792289"/>
            <a:ext cx="15820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FF6200"/>
                </a:solidFill>
                <a:latin typeface="Calibri"/>
              </a:rPr>
              <a:t>L1+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85215" y="4389387"/>
            <a:ext cx="15820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FF6200"/>
                </a:solidFill>
                <a:latin typeface="Calibri"/>
              </a:rPr>
              <a:t>L1+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85215" y="4986486"/>
            <a:ext cx="15820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CC4E00"/>
                </a:solidFill>
                <a:latin typeface="Calibri"/>
              </a:rPr>
              <a:t>L2+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4187" y="5507235"/>
            <a:ext cx="114121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6200"/>
                </a:solidFill>
                <a:latin typeface="Calibri"/>
              </a:rPr>
              <a:t>EVIDENCE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505" y="5720060"/>
            <a:ext cx="3491771" cy="6995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CCCCCC"/>
                </a:solidFill>
                <a:latin typeface="Calibri"/>
              </a:rPr>
              <a:t>Ratings must be supported by observable, verifiable evidence.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Self-report ("I always do this") is not sufficient — documented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logs, session records, and independent confirmation are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required.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0045" y="1901725"/>
            <a:ext cx="114910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Signal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0045" y="2107689"/>
            <a:ext cx="2315616" cy="1536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Detecting &amp; interpreting engagement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0045" y="2498824"/>
            <a:ext cx="114151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Ownership Clarity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0045" y="2704788"/>
            <a:ext cx="2259657" cy="1536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Defining &amp; maintaining outcome ownership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0045" y="3095922"/>
            <a:ext cx="165764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Communication Discipline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0045" y="3301886"/>
            <a:ext cx="2262782" cy="1536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Structured, precise delivery communication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0045" y="3693021"/>
            <a:ext cx="126474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Outcome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0045" y="3898984"/>
            <a:ext cx="2197447" cy="1536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Verifying results against defined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0045" y="4290119"/>
            <a:ext cx="114032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Trust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0045" y="4496083"/>
            <a:ext cx="1918841" cy="1536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CE Framework application in practice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0045" y="4887217"/>
            <a:ext cx="136341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Program Stewardship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0045" y="5093181"/>
            <a:ext cx="2380654" cy="1536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Program integrity &amp; practitioner development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1684139"/>
            <a:ext cx="95250" cy="952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61343" y="1684139"/>
            <a:ext cx="95250" cy="952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07282" y="1684139"/>
            <a:ext cx="95250" cy="952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0159" y="1684139"/>
            <a:ext cx="95250" cy="952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81000" y="1338708"/>
            <a:ext cx="399023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COMPETENCY PROFILE — PROFICIENCY LEVEL VISUALIZATION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9530" y="1645294"/>
            <a:ext cx="81751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Below Standard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9873" y="1645294"/>
            <a:ext cx="58310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Developing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55812" y="1645294"/>
            <a:ext cx="61004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At Standard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28689" y="1645294"/>
            <a:ext cx="82480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CCCCCC"/>
                </a:solidFill>
                <a:latin typeface="Calibri"/>
              </a:rPr>
              <a:t>Above Standard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1888628"/>
            <a:ext cx="7581900" cy="4772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