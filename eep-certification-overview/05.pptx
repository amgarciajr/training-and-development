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0027"/>
            <a:ext cx="7775939" cy="5692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Level </a:t>
            </a:r>
            <a:r>
              <a:rPr sz="3600" b="1" i="0">
                <a:solidFill>
                  <a:srgbClr val="FF6200"/>
                </a:solidFill>
                <a:latin typeface="Calibri"/>
              </a:rPr>
              <a:t>2 &amp; 3</a:t>
            </a:r>
            <a:r>
              <a:rPr sz="3600" b="1" i="0">
                <a:solidFill>
                  <a:srgbClr val="FFFFFF"/>
                </a:solidFill>
                <a:latin typeface="Calibri"/>
              </a:rPr>
              <a:t> — Advanced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0901"/>
            <a:ext cx="3012578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CCCCCC"/>
                </a:solidFill>
                <a:latin typeface="Calibri"/>
              </a:rPr>
              <a:t>EEP CERTIFICATION PATH · SECTIONS 1.2.2 &amp; 1.2.3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76486"/>
            <a:ext cx="5486400" cy="5448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1205061"/>
            <a:ext cx="5467350" cy="742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1387524"/>
            <a:ext cx="390525" cy="3905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2545705"/>
            <a:ext cx="5010150" cy="6191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2644675"/>
            <a:ext cx="238125" cy="2381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3241923"/>
            <a:ext cx="5010150" cy="6191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340893"/>
            <a:ext cx="238125" cy="2381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3938141"/>
            <a:ext cx="5010150" cy="6191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4037111"/>
            <a:ext cx="238125" cy="2381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4634358"/>
            <a:ext cx="5010150" cy="6191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4733329"/>
            <a:ext cx="238125" cy="2381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5330576"/>
            <a:ext cx="5010150" cy="6191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5429547"/>
            <a:ext cx="238125" cy="2381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530" y="2717006"/>
            <a:ext cx="98970" cy="99119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781" y="3413224"/>
            <a:ext cx="86617" cy="99119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279" y="4109442"/>
            <a:ext cx="111472" cy="99119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8177" y="4805660"/>
            <a:ext cx="123825" cy="99119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2883" y="5501878"/>
            <a:ext cx="74265" cy="9911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19001" y="1484709"/>
            <a:ext cx="148679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L2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0985" y="1355213"/>
            <a:ext cx="747563" cy="2330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35"/>
              </a:lnSpc>
              <a:spcBef>
                <a:spcPts val="0"/>
              </a:spcBef>
              <a:spcAft>
                <a:spcPts val="0"/>
              </a:spcAft>
            </a:pPr>
            <a:r>
              <a:rPr sz="1596" b="1" i="0">
                <a:solidFill>
                  <a:srgbClr val="FFFFFF"/>
                </a:solidFill>
                <a:latin typeface="Calibri"/>
              </a:rPr>
              <a:t>EEP Lead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0985" y="1615231"/>
            <a:ext cx="1327844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0">
                <a:solidFill>
                  <a:srgbClr val="FF6200"/>
                </a:solidFill>
                <a:latin typeface="Calibri"/>
              </a:rPr>
              <a:t>LEVEL 2 CERTIFICATION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6280" y="2646610"/>
            <a:ext cx="1387673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6200"/>
                </a:solidFill>
                <a:latin typeface="Calibri"/>
              </a:rPr>
              <a:t>Active L1 Certification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6280" y="2886223"/>
            <a:ext cx="3007816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82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CCCCCC"/>
                </a:solidFill>
                <a:latin typeface="Calibri"/>
              </a:rPr>
              <a:t>Current EEP Practitioner status required as prerequisite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6280" y="3342828"/>
            <a:ext cx="2208609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6200"/>
                </a:solidFill>
                <a:latin typeface="Calibri"/>
              </a:rPr>
              <a:t>6 Months Delivery Under Standard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96280" y="3582441"/>
            <a:ext cx="4155727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82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CCCCCC"/>
                </a:solidFill>
                <a:latin typeface="Calibri"/>
              </a:rPr>
              <a:t>Verified via documented Outcome Owner assignments and signal log entries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96280" y="4039046"/>
            <a:ext cx="2067817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6200"/>
                </a:solidFill>
                <a:latin typeface="Calibri"/>
              </a:rPr>
              <a:t>3 Playbook Lesson Contributions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96280" y="4278659"/>
            <a:ext cx="3142059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82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CCCCCC"/>
                </a:solidFill>
                <a:latin typeface="Calibri"/>
              </a:rPr>
              <a:t>Each with scenario, contrast analysis, and reusable insight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96280" y="4735264"/>
            <a:ext cx="2800647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6200"/>
                </a:solidFill>
                <a:latin typeface="Calibri"/>
              </a:rPr>
              <a:t>Facilitate One Full CEES Cycle Independently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96280" y="4974877"/>
            <a:ext cx="3045618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82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CCCCCC"/>
                </a:solidFill>
                <a:latin typeface="Calibri"/>
              </a:rPr>
              <a:t>4 sessions, 8 weeks — observed by a certified L3 Trainer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96280" y="5431482"/>
            <a:ext cx="2119014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6200"/>
                </a:solidFill>
                <a:latin typeface="Calibri"/>
              </a:rPr>
              <a:t>Pass Level 2 Scenario Assessment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96280" y="5671095"/>
            <a:ext cx="1587847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82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CCCCCC"/>
                </a:solidFill>
                <a:latin typeface="Calibri"/>
              </a:rPr>
              <a:t>Minimum passing score: 80%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1176486"/>
            <a:ext cx="5486400" cy="54483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57925" y="1205061"/>
            <a:ext cx="5467350" cy="7429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86525" y="1387524"/>
            <a:ext cx="390525" cy="3905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6525" y="2545705"/>
            <a:ext cx="5010150" cy="61912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29400" y="2644675"/>
            <a:ext cx="238125" cy="23812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6525" y="3241923"/>
            <a:ext cx="5010150" cy="61912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29400" y="3340893"/>
            <a:ext cx="238125" cy="23812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6525" y="3938141"/>
            <a:ext cx="5010150" cy="61912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29400" y="4037111"/>
            <a:ext cx="238125" cy="23812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6525" y="4634358"/>
            <a:ext cx="5010150" cy="61912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29400" y="4733329"/>
            <a:ext cx="238125" cy="23812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6525" y="5330576"/>
            <a:ext cx="5010150" cy="61912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29400" y="5429547"/>
            <a:ext cx="238125" cy="23812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01730" y="2717006"/>
            <a:ext cx="98970" cy="99119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89377" y="3413224"/>
            <a:ext cx="123825" cy="99119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95479" y="4109442"/>
            <a:ext cx="111472" cy="99119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01730" y="4805660"/>
            <a:ext cx="98970" cy="99119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89377" y="5501878"/>
            <a:ext cx="123825" cy="9911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610201" y="1484709"/>
            <a:ext cx="148679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C1C1C"/>
                </a:solidFill>
                <a:latin typeface="Calibri"/>
              </a:rPr>
              <a:t>L3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12185" y="1355213"/>
            <a:ext cx="941189" cy="2330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35"/>
              </a:lnSpc>
              <a:spcBef>
                <a:spcPts val="0"/>
              </a:spcBef>
              <a:spcAft>
                <a:spcPts val="0"/>
              </a:spcAft>
            </a:pPr>
            <a:r>
              <a:rPr sz="1596" b="1" i="0">
                <a:solidFill>
                  <a:srgbClr val="FFFFFF"/>
                </a:solidFill>
                <a:latin typeface="Calibri"/>
              </a:rPr>
              <a:t>EEP Trainer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12185" y="1615231"/>
            <a:ext cx="1327844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0">
                <a:solidFill>
                  <a:srgbClr val="E8A020"/>
                </a:solidFill>
                <a:latin typeface="Calibri"/>
              </a:rPr>
              <a:t>LEVEL 3 CERTIFICATION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87480" y="2646610"/>
            <a:ext cx="1387673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E8A020"/>
                </a:solidFill>
                <a:latin typeface="Calibri"/>
              </a:rPr>
              <a:t>Active L2 Certification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87480" y="2886223"/>
            <a:ext cx="2626518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82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CCCCCC"/>
                </a:solidFill>
                <a:latin typeface="Calibri"/>
              </a:rPr>
              <a:t>Current EEP Lead status required as prerequisite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87480" y="3342828"/>
            <a:ext cx="2339726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E8A020"/>
                </a:solidFill>
                <a:latin typeface="Calibri"/>
              </a:rPr>
              <a:t>Complete Trainer-of-Trainers Module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87480" y="3582441"/>
            <a:ext cx="3100238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82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CCCCCC"/>
                </a:solidFill>
                <a:latin typeface="Calibri"/>
              </a:rPr>
              <a:t>Full ToT Module completion with all components verified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87480" y="4039046"/>
            <a:ext cx="2504479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E8A020"/>
                </a:solidFill>
                <a:latin typeface="Calibri"/>
              </a:rPr>
              <a:t>Deliver One Observed Full CEES Session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87480" y="4278659"/>
            <a:ext cx="2759571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82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CCCCCC"/>
                </a:solidFill>
                <a:latin typeface="Calibri"/>
              </a:rPr>
              <a:t>Minimum passing score: 80% on observed delivery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87480" y="4735264"/>
            <a:ext cx="2600325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E8A020"/>
                </a:solidFill>
                <a:latin typeface="Calibri"/>
              </a:rPr>
              <a:t>Submit One Complete Scenario Write-Up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87480" y="4974877"/>
            <a:ext cx="2334666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82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CCCCCC"/>
                </a:solidFill>
                <a:latin typeface="Calibri"/>
              </a:rPr>
              <a:t>Approved for inclusion in the EEP Playbook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87480" y="5431482"/>
            <a:ext cx="1645890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E8A020"/>
                </a:solidFill>
                <a:latin typeface="Calibri"/>
              </a:rPr>
              <a:t>Pass Level 3 Panel Debrief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87480" y="5671095"/>
            <a:ext cx="3339703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82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CCCCCC"/>
                </a:solidFill>
                <a:latin typeface="Calibri"/>
              </a:rPr>
              <a:t>15 minutes — program philosophy, edge cases &amp; stewardship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6539210"/>
            <a:ext cx="209907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FFFFFF">
                    <a:alpha val="20000"/>
                  </a:srgbClr>
                </a:solidFill>
                <a:latin typeface="Calibri"/>
              </a:rPr>
              <a:t>ENGAGEMENT EXCELLENCE PROGRAM · EEP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550997" y="6539210"/>
            <a:ext cx="33620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FFFFFF">
                    <a:alpha val="20000"/>
                  </a:srgbClr>
                </a:solidFill>
                <a:latin typeface="Calibri"/>
              </a:rPr>
              <a:t>05 / 08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0"/>
            <a:ext cx="12192000" cy="28575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23619" y="3354883"/>
            <a:ext cx="952500" cy="952500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33045" y="3741092"/>
            <a:ext cx="125759" cy="16758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007149" y="4146649"/>
            <a:ext cx="177551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FF6200"/>
                </a:solidFill>
                <a:latin typeface="Calibri"/>
              </a:rPr>
              <a:t>PATH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