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0" y="3810000"/>
            <a:ext cx="323850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905000" cy="1905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883890"/>
            <a:ext cx="571500" cy="285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96227"/>
            <a:ext cx="7141152" cy="61982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Anti-Gaming &amp; </a:t>
            </a:r>
            <a:r>
              <a:rPr sz="3600" b="1" i="0">
                <a:solidFill>
                  <a:srgbClr val="FF6200"/>
                </a:solidFill>
                <a:latin typeface="Calibri"/>
              </a:rPr>
              <a:t>Calibration Integrity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011263"/>
            <a:ext cx="5562600" cy="1504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01763"/>
            <a:ext cx="335160" cy="33516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670" y="2262633"/>
            <a:ext cx="213270" cy="2134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35260" y="2258978"/>
            <a:ext cx="1737419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Evidence vs. Self-Report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5260" y="2654944"/>
            <a:ext cx="4829458" cy="81505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CCCCCC"/>
                </a:solidFill>
                <a:latin typeface="Calibri"/>
              </a:rPr>
              <a:t>Evidence is </a:t>
            </a:r>
            <a:r>
              <a:rPr sz="1176" b="1" i="0">
                <a:solidFill>
                  <a:srgbClr val="FFFFFF"/>
                </a:solidFill>
                <a:latin typeface="Calibri"/>
              </a:rPr>
              <a:t>observable, verifiable, and independently confirmable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. A pre-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send review log with specific examples is evidence. </a:t>
            </a:r>
            <a:r>
              <a:rPr sz="1176" b="0" i="1">
                <a:solidFill>
                  <a:srgbClr val="CCCCCC"/>
                </a:solidFill>
                <a:latin typeface="Calibri"/>
              </a:rPr>
              <a:t>"I always apply the three</a:t>
            </a:r>
            <a:r>
              <a:rPr sz="1176" b="0" i="1">
                <a:solidFill>
                  <a:srgbClr val="CCCCCC"/>
                </a:solidFill>
                <a:latin typeface="Calibri"/>
              </a:rPr>
              <a:t> tests"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is self-report — and self-report does not qualify.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8300" y="2009775"/>
            <a:ext cx="571500" cy="15144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011263"/>
            <a:ext cx="5562600" cy="1504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2201763"/>
            <a:ext cx="335160" cy="3351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61670" y="2262633"/>
            <a:ext cx="213270" cy="2134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0260" y="2258978"/>
            <a:ext cx="1159966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Calibration Drift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0260" y="2654944"/>
            <a:ext cx="4702838" cy="84913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CCCCCC"/>
                </a:solidFill>
                <a:latin typeface="Calibri"/>
              </a:rPr>
              <a:t>Drift occurs when </a:t>
            </a:r>
            <a:r>
              <a:rPr sz="1176" b="1" i="0">
                <a:solidFill>
                  <a:srgbClr val="FFFFFF"/>
                </a:solidFill>
                <a:latin typeface="Calibri"/>
              </a:rPr>
              <a:t>all practitioners in a team accumulate "At Standard" or</a:t>
            </a:r>
            <a:r>
              <a:rPr sz="1176" b="1" i="0">
                <a:solidFill>
                  <a:srgbClr val="FFFFFF"/>
                </a:solidFill>
                <a:latin typeface="Calibri"/>
              </a:rPr>
              <a:t> "Above Standard" ratings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without observable change in delivery quality.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Uniform upward movement without behavioral evidence is the signal.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3300" y="2009775"/>
            <a:ext cx="571500" cy="15144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673524"/>
            <a:ext cx="5562600" cy="1504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864024"/>
            <a:ext cx="335160" cy="33516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6670" y="3924895"/>
            <a:ext cx="213270" cy="21341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35260" y="3921240"/>
            <a:ext cx="1393031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Corrective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260" y="4317206"/>
            <a:ext cx="4781017" cy="8113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CCCCCC"/>
                </a:solidFill>
                <a:latin typeface="Calibri"/>
              </a:rPr>
              <a:t>When drift is detected: </a:t>
            </a:r>
            <a:r>
              <a:rPr sz="1176" b="1" i="0">
                <a:solidFill>
                  <a:srgbClr val="FFFFFF"/>
                </a:solidFill>
                <a:latin typeface="Calibri"/>
              </a:rPr>
              <a:t>acknowledge the pattern explicitly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, return to rubric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language, and require specific behavioral examples for each rating. Do not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adjust ratings without documented behavioral evidence.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8300" y="3676650"/>
            <a:ext cx="571500" cy="15144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3673524"/>
            <a:ext cx="5562600" cy="15049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864024"/>
            <a:ext cx="335160" cy="33516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5030" y="3924895"/>
            <a:ext cx="266700" cy="21341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0260" y="3921240"/>
            <a:ext cx="1649610" cy="2103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6"/>
              </a:lnSpc>
              <a:spcBef>
                <a:spcPts val="0"/>
              </a:spcBef>
              <a:spcAft>
                <a:spcPts val="0"/>
              </a:spcAft>
            </a:pPr>
            <a:r>
              <a:rPr sz="1380" b="1" i="0">
                <a:solidFill>
                  <a:srgbClr val="FF6200"/>
                </a:solidFill>
                <a:latin typeface="Calibri"/>
              </a:rPr>
              <a:t>The Evidence Standard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0260" y="4317206"/>
            <a:ext cx="4838962" cy="8370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23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CCCCCC"/>
                </a:solidFill>
                <a:latin typeface="Calibri"/>
              </a:rPr>
              <a:t>The test is simple: </a:t>
            </a:r>
            <a:r>
              <a:rPr sz="1176" b="1" i="0">
                <a:solidFill>
                  <a:srgbClr val="FFFFFF"/>
                </a:solidFill>
                <a:latin typeface="Calibri"/>
              </a:rPr>
              <a:t>if it doesn't exist independently of the claim, it's self-</a:t>
            </a:r>
            <a:r>
              <a:rPr sz="1176" b="1" i="0">
                <a:solidFill>
                  <a:srgbClr val="FFFFFF"/>
                </a:solidFill>
                <a:latin typeface="Calibri"/>
              </a:rPr>
              <a:t> report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 . Ratings must be anchored to artifacts, logs, or observed behaviors —</a:t>
            </a:r>
            <a:r>
              <a:rPr sz="1176" b="0" i="0">
                <a:solidFill>
                  <a:srgbClr val="CCCCCC"/>
                </a:solidFill>
                <a:latin typeface="Calibri"/>
              </a:rPr>
              <a:t>not to the practitioner's own account of their performance.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3300" y="3676650"/>
            <a:ext cx="571500" cy="15144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6320283"/>
            <a:ext cx="11277600" cy="3619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" y="6436667"/>
            <a:ext cx="137070" cy="13721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7576" y="6421189"/>
            <a:ext cx="10312508" cy="2210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326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FF6200"/>
                </a:solidFill>
                <a:latin typeface="Calibri"/>
              </a:rPr>
              <a:t>EEP Certification Path § 3.3 — Anti-Gaming Guidance:</a:t>
            </a:r>
            <a:r>
              <a:rPr sz="1019" b="0" i="1">
                <a:solidFill>
                  <a:srgbClr val="CCCCCC"/>
                </a:solidFill>
                <a:latin typeface="Calibri"/>
              </a:rPr>
              <a:t> Any rubric with advancement implications is vulnerable to gaming. Calibration integrity is a shared responsibility of Leads and Trainers.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12192000" cy="38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