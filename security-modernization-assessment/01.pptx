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000500"/>
            <a:ext cx="381000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2450" y="0"/>
            <a:ext cx="1905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1722" y="1895772"/>
            <a:ext cx="402877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01 ] Identity &amp; Access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1722" y="2215753"/>
            <a:ext cx="306958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02 ] Conditional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1722" y="2535733"/>
            <a:ext cx="326141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03 ] MFA &amp;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1722" y="2855714"/>
            <a:ext cx="374094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04 ] Data Protection (Purview)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1722" y="3175694"/>
            <a:ext cx="354910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05 ] Governance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1722" y="3495675"/>
            <a:ext cx="287774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[ DOMAIN 06 ] Resilience &amp; 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1722" y="3815655"/>
            <a:ext cx="278174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1722" y="4135635"/>
            <a:ext cx="201438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MATURITY SCALE: 1 </a:t>
            </a:r>
            <a:r>
              <a:rPr sz="1260" b="0" i="0">
                <a:solidFill>
                  <a:srgbClr val="FFFFFF">
                    <a:alpha val="7000"/>
                  </a:srgbClr>
                </a:solidFill>
                <a:latin typeface="Cambria Math"/>
              </a:rPr>
              <a:t>→ </a:t>
            </a: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1722" y="4455616"/>
            <a:ext cx="364509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FRAMEWORK: Zero Trust / Identity-First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1722" y="4775596"/>
            <a:ext cx="287774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FFFFFF">
                    <a:alpha val="7000"/>
                  </a:srgbClr>
                </a:solidFill>
                <a:latin typeface="Courier New"/>
              </a:rPr>
              <a:t>STATUS: Assessment In Progress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657350"/>
            <a:ext cx="762000" cy="476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058394"/>
            <a:ext cx="5715000" cy="403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009775"/>
            <a:ext cx="144660" cy="1448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5454" y="2009775"/>
            <a:ext cx="2340619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CLIENT-FACING ASSESSMENT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344804"/>
            <a:ext cx="1816149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50000"/>
                    </a:srgbClr>
                  </a:outerShdw>
                </a:effectLst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838467"/>
            <a:ext cx="3315890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ln w="19050" cap="rnd">
                  <a:solidFill>
                    <a:srgbClr val="FFFFFF">
                      <a:alpha val="60000"/>
                    </a:srgbClr>
                  </a:solidFill>
                  <a:round/>
                </a:ln>
                <a:solidFill>
                  <a:srgbClr val="000000">
                    <a:alpha val="0"/>
                  </a:srgbClr>
                </a:solidFill>
                <a:effectLst>
                  <a:outerShdw blurRad="114300" dist="26940" dir="2700000" algn="ctr" rotWithShape="0">
                    <a:srgbClr val="000000">
                      <a:alpha val="50000"/>
                    </a:srgbClr>
                  </a:outerShdw>
                </a:effectLst>
                <a:latin typeface="Calibri"/>
              </a:rPr>
              <a:t>MODERNIZATION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332130"/>
            <a:ext cx="2510135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50000"/>
                    </a:srgbClr>
                  </a:outerShdw>
                </a:effectLst>
                <a:latin typeface="Calibri"/>
              </a:rPr>
              <a:t>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680" y="4077444"/>
            <a:ext cx="5296495" cy="3524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268" b="0" i="0">
                <a:solidFill>
                  <a:srgbClr val="D1D5DB"/>
                </a:solidFill>
                <a:latin typeface="Calibri"/>
              </a:rPr>
              <a:t>Five-Domain Maturity Assessment &amp; Findings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842569"/>
            <a:ext cx="1266825" cy="3524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105" y="4953000"/>
            <a:ext cx="119955" cy="1372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2851" y="4935884"/>
            <a:ext cx="71348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D1D5DB"/>
                </a:solidFill>
                <a:latin typeface="Calibri"/>
              </a:rPr>
              <a:t>Mike Garcia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2038" y="4842569"/>
            <a:ext cx="1514475" cy="3524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39144" y="4953000"/>
            <a:ext cx="119955" cy="1372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642889" y="4935884"/>
            <a:ext cx="95979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D1D5DB"/>
                </a:solidFill>
                <a:latin typeface="Calibri"/>
              </a:rPr>
              <a:t>June 2026 · v1.0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08387" y="4842569"/>
            <a:ext cx="1676400" cy="3524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85493" y="4953000"/>
            <a:ext cx="102840" cy="13721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372123" y="4935884"/>
            <a:ext cx="11430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D1D5DB"/>
                </a:solidFill>
                <a:latin typeface="Calibri"/>
              </a:rPr>
              <a:t>Enterprise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6334239"/>
            <a:ext cx="2995017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>
                    <a:alpha val="25000"/>
                  </a:srgbClr>
                </a:solidFill>
                <a:latin typeface="Calibri"/>
              </a:rPr>
              <a:t>SECURITY MODERNIZATION IMPLEMENTATION FRAMEWORK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33992" y="342900"/>
            <a:ext cx="1695450" cy="2667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80587" y="424755"/>
            <a:ext cx="93315" cy="1067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61562" y="405819"/>
            <a:ext cx="1226641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>
                    <a:alpha val="55000"/>
                  </a:srgbClr>
                </a:solidFill>
                <a:latin typeface="Calibri"/>
              </a:rPr>
              <a:t>DELIVERY CONFIDENTIAL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0375"/>
            <a:ext cx="4057650" cy="476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64049" y="6810375"/>
            <a:ext cx="1354633" cy="476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18683" y="6810375"/>
            <a:ext cx="6773316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