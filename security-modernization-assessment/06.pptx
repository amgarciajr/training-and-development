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176" y="375791"/>
            <a:ext cx="20574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182" y="470594"/>
            <a:ext cx="127992" cy="127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81927"/>
            <a:ext cx="7513194" cy="7069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Conditional Access</a:t>
            </a:r>
            <a:r>
              <a:rPr sz="3600" b="0" i="0">
                <a:solidFill>
                  <a:srgbClr val="D1D5DB"/>
                </a:solidFill>
                <a:latin typeface="Calibri"/>
              </a:rPr>
              <a:t> &amp; </a:t>
            </a:r>
            <a:r>
              <a:rPr sz="3600" b="1" i="0">
                <a:solidFill>
                  <a:srgbClr val="1D4ED8"/>
                </a:solidFill>
                <a:latin typeface="Calibri"/>
              </a:rPr>
              <a:t>MFA</a:t>
            </a:r>
            <a:r>
              <a:rPr sz="1979" b="0" i="0">
                <a:solidFill>
                  <a:srgbClr val="D1D5DB"/>
                </a:solidFill>
                <a:latin typeface="Calibri"/>
              </a:rPr>
              <a:t>— Detailed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3374" y="448121"/>
            <a:ext cx="157861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6200"/>
                </a:solidFill>
                <a:latin typeface="Calibri"/>
              </a:rPr>
              <a:t>SECTIONS 4 &amp; 5 · FIELD GUIDE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845790"/>
            <a:ext cx="5295900" cy="5819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25" y="855315"/>
            <a:ext cx="5276850" cy="590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98479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5584" y="1018430"/>
            <a:ext cx="8001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1904404"/>
            <a:ext cx="4895850" cy="590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2570261"/>
            <a:ext cx="4895850" cy="590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3236118"/>
            <a:ext cx="4895850" cy="590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3901975"/>
            <a:ext cx="4895850" cy="590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" y="4644032"/>
            <a:ext cx="4895850" cy="895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5" y="5998071"/>
            <a:ext cx="4895850" cy="523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815" y="1068585"/>
            <a:ext cx="137070" cy="13721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2015579"/>
            <a:ext cx="1143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2681436"/>
            <a:ext cx="114300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3347293"/>
            <a:ext cx="11430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4013150"/>
            <a:ext cx="1143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" y="4776936"/>
            <a:ext cx="112067" cy="12799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850" y="5051226"/>
            <a:ext cx="91380" cy="9138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51720" y="5051226"/>
            <a:ext cx="91380" cy="9138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850" y="5295304"/>
            <a:ext cx="91380" cy="9138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51720" y="5295304"/>
            <a:ext cx="91380" cy="9138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" y="6179492"/>
            <a:ext cx="167580" cy="1675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7205" y="1026021"/>
            <a:ext cx="134689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FFFFFF"/>
                </a:solidFill>
                <a:latin typeface="Calibri"/>
              </a:rPr>
              <a:t>Conditional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4555" y="1050726"/>
            <a:ext cx="60334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Score: X /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580" y="1997719"/>
            <a:ext cx="4457007" cy="4566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Policy Set Completeness: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Gaps identified against baseline policy set;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report-only mode active on several policies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580" y="2663576"/>
            <a:ext cx="4385879" cy="4267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Legacy Auth Block: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Most common gap — legacy authentication not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fully blocked across all user populations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580" y="3329433"/>
            <a:ext cx="4524763" cy="401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Named Locations: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Configuration incomplete; trusted IPs and country-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based restrictions require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580" y="3995291"/>
            <a:ext cx="4084352" cy="449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Naming Convention &amp; Exceptions: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Inconsistent policy naming;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exception documentation absent or outdated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788" y="4754463"/>
            <a:ext cx="196646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6200"/>
                </a:solidFill>
                <a:latin typeface="Calibri"/>
              </a:rPr>
              <a:t>FOUR NON-NEGOTIABLE CA POLICIES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101" y="5007322"/>
            <a:ext cx="1443930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D1D5DB"/>
                </a:solidFill>
                <a:latin typeface="Calibri"/>
              </a:rPr>
              <a:t>Require MFA for all admins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3971" y="5007322"/>
            <a:ext cx="154468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D1D5DB"/>
                </a:solidFill>
                <a:latin typeface="Calibri"/>
              </a:rPr>
              <a:t>Block legacy auth — all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101" y="5251400"/>
            <a:ext cx="155406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D1D5DB"/>
                </a:solidFill>
                <a:latin typeface="Calibri"/>
              </a:rPr>
              <a:t>Require MFA for Azure mgmt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3971" y="5251400"/>
            <a:ext cx="1592758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D1D5DB"/>
                </a:solidFill>
                <a:latin typeface="Calibri"/>
              </a:rPr>
              <a:t>Emergency access alert active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830" y="6091386"/>
            <a:ext cx="4323078" cy="4138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/>
                </a:solidFill>
                <a:latin typeface="Calibri"/>
              </a:rPr>
              <a:t>Key Risk:</a:t>
            </a:r>
            <a:r>
              <a:rPr sz="1041" b="0" i="0">
                <a:solidFill>
                  <a:srgbClr val="D1D5DB"/>
                </a:solidFill>
                <a:latin typeface="Calibri"/>
              </a:rPr>
              <a:t> Legacy authentication block is the most common gap — sign-in logs</a:t>
            </a:r>
            <a:r>
              <a:rPr sz="1041" b="0" i="0">
                <a:solidFill>
                  <a:srgbClr val="D1D5DB"/>
                </a:solidFill>
                <a:latin typeface="Calibri"/>
              </a:rPr>
              <a:t> show active legacy auth usage requiring immediate enforcement action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845790"/>
            <a:ext cx="5295900" cy="58197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24625" y="855315"/>
            <a:ext cx="5276850" cy="5905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15125" y="984795"/>
            <a:ext cx="304800" cy="3048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09684" y="1018430"/>
            <a:ext cx="800100" cy="2286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5125" y="2092374"/>
            <a:ext cx="4895850" cy="5905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5125" y="2758231"/>
            <a:ext cx="4895850" cy="5905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5125" y="3424088"/>
            <a:ext cx="4895850" cy="5905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5125" y="4089945"/>
            <a:ext cx="4895850" cy="5905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5125" y="4755802"/>
            <a:ext cx="4895850" cy="5905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15125" y="5998071"/>
            <a:ext cx="4895850" cy="5238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16030" y="1068585"/>
            <a:ext cx="102840" cy="137219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2203549"/>
            <a:ext cx="114300" cy="1143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2869406"/>
            <a:ext cx="114300" cy="1143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3535263"/>
            <a:ext cx="114300" cy="1143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4201120"/>
            <a:ext cx="114300" cy="1143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4866977"/>
            <a:ext cx="114300" cy="1143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77050" y="6179492"/>
            <a:ext cx="209550" cy="16758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111305" y="1026021"/>
            <a:ext cx="160451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FFFFFF"/>
                </a:solidFill>
                <a:latin typeface="Calibri"/>
              </a:rPr>
              <a:t>MFA &amp; Authentication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08655" y="1050726"/>
            <a:ext cx="603349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Score: X / 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3680" y="2185689"/>
            <a:ext cx="4548217" cy="5233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Registration by Population: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Admin MFA registration at [X]%; end-user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registration at [X]% — gaps in guest and contractor populations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3680" y="2851546"/>
            <a:ext cx="4600643" cy="4621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Authentication Methods: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SMS/voice OTP still prevalent; Authenticator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app adoption at [X]%; FIDO2/passkey usage minimal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63680" y="3517403"/>
            <a:ext cx="4489659" cy="4249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Number Matching: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Status — [Enabled / Not Enabled]; critical control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to mitigate MFA fatigue attack vectors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63680" y="4183260"/>
            <a:ext cx="4564466" cy="501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MFA Fatigue Risk: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Push notification without number matching creates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active fatigue risk; additional context required in prompts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63680" y="4849117"/>
            <a:ext cx="4198555" cy="4933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Phishing-Resistant Auth: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No phishing-resistant methods (FIDO2,</a:t>
            </a:r>
            <a:r>
              <a:rPr sz="1209" b="0" i="0">
                <a:solidFill>
                  <a:srgbClr val="D1D5DB"/>
                </a:solidFill>
                <a:latin typeface="Calibri"/>
              </a:rPr>
              <a:t> WHfB) deployed at scale; roadmap item for Days 61–90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0900" y="6091386"/>
            <a:ext cx="4135908" cy="3872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54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FFFFFF"/>
                </a:solidFill>
                <a:latin typeface="Calibri"/>
              </a:rPr>
              <a:t>Key Metric:</a:t>
            </a:r>
            <a:r>
              <a:rPr sz="1041" b="0" i="0">
                <a:solidFill>
                  <a:srgbClr val="D1D5DB"/>
                </a:solidFill>
                <a:latin typeface="Calibri"/>
              </a:rPr>
              <a:t> Overall MFA registration at [X]% — target is 100% for all users</a:t>
            </a:r>
            <a:r>
              <a:rPr sz="1041" b="0" i="0">
                <a:solidFill>
                  <a:srgbClr val="D1D5DB"/>
                </a:solidFill>
                <a:latin typeface="Calibri"/>
              </a:rPr>
              <a:t> before Conditional Access enforcement mode is enabled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1237" y="845790"/>
            <a:ext cx="9525" cy="5819775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05500" y="3566070"/>
            <a:ext cx="381000" cy="3810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19800" y="3680370"/>
            <a:ext cx="152400" cy="1524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