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72306"/>
            <a:ext cx="533400" cy="38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4287"/>
            <a:ext cx="6556027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Assessment Scope &amp;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1277"/>
            <a:ext cx="482173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1">
                <a:solidFill>
                  <a:srgbClr val="D1D5DB"/>
                </a:solidFill>
                <a:latin typeface="Calibri"/>
              </a:rPr>
              <a:t>The Five-Day Assessment Sprint — structured discovery across all security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914"/>
            <a:ext cx="268977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SECURITY MODERNIZATION · FIELD GUIDE SECTION 3.1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150494"/>
            <a:ext cx="11277600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5256311"/>
            <a:ext cx="129480" cy="129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9985" y="5243810"/>
            <a:ext cx="8659728" cy="2030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/>
                </a:solidFill>
                <a:latin typeface="Calibri"/>
              </a:rPr>
              <a:t>Delivery Standard: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Each day targets a distinct security domain — findings from all five days feed directly into the maturity scoring framework and prioritized 90-day roadmap.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670869"/>
            <a:ext cx="2143125" cy="2333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838450"/>
            <a:ext cx="365670" cy="36567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597" y="2948880"/>
            <a:ext cx="180826" cy="1448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0045" y="2955374"/>
            <a:ext cx="261491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3303091"/>
            <a:ext cx="1451537" cy="391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Tenant Orientation &amp;</a:t>
            </a:r>
            <a:r>
              <a:rPr sz="1104" b="1" i="0">
                <a:solidFill>
                  <a:srgbClr val="FFFFFF"/>
                </a:solidFill>
                <a:latin typeface="Calibri"/>
              </a:rPr>
              <a:t> Stakeholder Interviews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3739157"/>
            <a:ext cx="1666656" cy="331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Tenant orientation &amp; emergency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access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" y="373915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4111228"/>
            <a:ext cx="1427059" cy="3158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Licensing review &amp; baseline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" y="4111228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483298"/>
            <a:ext cx="1579892" cy="3352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Interviews: CISO, Identity lead,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Compliance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" y="4483298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8350" y="2667000"/>
            <a:ext cx="571500" cy="571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8586" y="2670869"/>
            <a:ext cx="2143125" cy="23336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9561" y="2838450"/>
            <a:ext cx="365670" cy="36567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148" y="2948880"/>
            <a:ext cx="108495" cy="1448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61432" y="2955374"/>
            <a:ext cx="261491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9561" y="3303091"/>
            <a:ext cx="110222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Entra ID Deep-Dive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3861" y="3563987"/>
            <a:ext cx="1483624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PIM status &amp; Access Reviews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9561" y="356398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3861" y="3936057"/>
            <a:ext cx="1747595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Entitlement Management &amp; guest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9561" y="393605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3861" y="4308127"/>
            <a:ext cx="1814890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Identity lifecycle &amp; service principal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9561" y="430812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4350" y="2667000"/>
            <a:ext cx="571500" cy="571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9972" y="2670869"/>
            <a:ext cx="2143125" cy="23336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0947" y="2838450"/>
            <a:ext cx="365670" cy="36567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1378" y="2948880"/>
            <a:ext cx="144660" cy="1448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42818" y="2955374"/>
            <a:ext cx="261491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DAY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0947" y="3303091"/>
            <a:ext cx="15945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Conditional Access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15247" y="3563987"/>
            <a:ext cx="159677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Policy export &amp; sign-in log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0947" y="356398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15247" y="3763714"/>
            <a:ext cx="1734258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Legacy auth breakdown &amp; Named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Location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0947" y="3763714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5247" y="4135784"/>
            <a:ext cx="1544941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Gap identification vs. baseline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requirements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0947" y="4135784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0825" y="2667000"/>
            <a:ext cx="571500" cy="571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1358" y="2670869"/>
            <a:ext cx="2143125" cy="23336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2333" y="2838450"/>
            <a:ext cx="365670" cy="36567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1842" y="2948880"/>
            <a:ext cx="126652" cy="14480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24204" y="2955374"/>
            <a:ext cx="261491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DAY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82333" y="3303091"/>
            <a:ext cx="95250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Purview Posture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96633" y="3563987"/>
            <a:ext cx="1531605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Label taxonomy review &amp; DLP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coverage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2333" y="356398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96633" y="3936057"/>
            <a:ext cx="1313162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Insider Risk configuration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assessment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2333" y="393605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96633" y="4308127"/>
            <a:ext cx="1522101" cy="340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Compliance Manager score &amp;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eDiscovery readiness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82333" y="430812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6825" y="2667000"/>
            <a:ext cx="571500" cy="571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745" y="2670869"/>
            <a:ext cx="2143125" cy="233362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720" y="2838450"/>
            <a:ext cx="365670" cy="36567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4150" y="2948880"/>
            <a:ext cx="144660" cy="14480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205591" y="2955374"/>
            <a:ext cx="261491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DAY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63720" y="3303091"/>
            <a:ext cx="1378876" cy="3466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FFFFFF"/>
                </a:solidFill>
                <a:latin typeface="Calibri"/>
              </a:rPr>
              <a:t>Defender / Sentinel &amp;</a:t>
            </a:r>
            <a:r>
              <a:rPr sz="1104" b="1" i="0">
                <a:solidFill>
                  <a:srgbClr val="FFFFFF"/>
                </a:solidFill>
                <a:latin typeface="Calibri"/>
              </a:rPr>
              <a:t> Synthesis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8020" y="3739157"/>
            <a:ext cx="151387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Defender XDR / Sentinel 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63720" y="3739157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8020" y="3938885"/>
            <a:ext cx="1350259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Operational model &amp; data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synthesis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63720" y="3938885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8020" y="4310955"/>
            <a:ext cx="1408817" cy="315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Maturity scoring &amp; findings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readout prep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63720" y="4310955"/>
            <a:ext cx="4092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›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63300" y="266700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