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119" y="784621"/>
            <a:ext cx="9525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736" y="784621"/>
            <a:ext cx="9525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6140648"/>
            <a:ext cx="11430000" cy="542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5" y="6346924"/>
            <a:ext cx="137070" cy="1372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204698"/>
            <a:ext cx="10193522" cy="595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Data Protection &amp; Governance —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Detailed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763785"/>
            <a:ext cx="185171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PURVIEW · IDENTITY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7044" y="763785"/>
            <a:ext cx="238229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SECTIONS 6 &amp; 7 — FIELD GUIDE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3661" y="763785"/>
            <a:ext cx="130834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DELIVERY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476" y="6258669"/>
            <a:ext cx="11054930" cy="309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Priority Action: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HR Connector configuration is the single highest-leverage item — it unlocks Insider Risk leaver policies and closes the most critical data exfiltration gap. DLP must move from simulation to enforcement mode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before Copilot readiness can be assessed.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1232148"/>
            <a:ext cx="9525" cy="4686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232148"/>
            <a:ext cx="5476875" cy="4686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525" y="1241673"/>
            <a:ext cx="5457825" cy="600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1399728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6569" y="1418778"/>
            <a:ext cx="96202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2272456"/>
            <a:ext cx="5076825" cy="628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9171" y="2371427"/>
            <a:ext cx="4857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" y="2989510"/>
            <a:ext cx="5076825" cy="485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1394" y="3088481"/>
            <a:ext cx="3238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3563987"/>
            <a:ext cx="5076825" cy="628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1394" y="3662957"/>
            <a:ext cx="32385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" y="4281041"/>
            <a:ext cx="5076825" cy="485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1394" y="4380011"/>
            <a:ext cx="3238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4855517"/>
            <a:ext cx="5076825" cy="628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26173" y="4954488"/>
            <a:ext cx="90487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684" y="1487388"/>
            <a:ext cx="129480" cy="12948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5064" y="1494978"/>
            <a:ext cx="114300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6230" y="2428577"/>
            <a:ext cx="114300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942" y="3145631"/>
            <a:ext cx="142875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9086" y="3720107"/>
            <a:ext cx="128587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3374" y="4437161"/>
            <a:ext cx="100012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0517" y="5011638"/>
            <a:ext cx="85725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77205" y="1451223"/>
            <a:ext cx="1717625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Data Protection (Purview)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2645" y="1485453"/>
            <a:ext cx="58147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Score [X] /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651" y="2354426"/>
            <a:ext cx="1325165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Sensitivity Label Taxonomy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651" y="2529185"/>
            <a:ext cx="3564466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Labels exist but mix of published, draft, and optional — no enforced baseline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classification applied.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7157" y="2413248"/>
            <a:ext cx="337988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CD34D"/>
                </a:solidFill>
                <a:latin typeface="Calibri"/>
              </a:rPr>
              <a:t>PARTIAL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651" y="3071480"/>
            <a:ext cx="1640234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DLP Policy Coverage by Workload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651" y="3246239"/>
            <a:ext cx="38417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Exchange and SharePoint partially covered; Teams and Endpoint DLP not yet deployed.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9380" y="3130301"/>
            <a:ext cx="175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651" y="3645956"/>
            <a:ext cx="1164133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DLP Enforcement 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651" y="3820715"/>
            <a:ext cx="3948158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Policies running in simulation/test mode only — no active enforcement blocking data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exfiltration.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9380" y="3704778"/>
            <a:ext cx="175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GAP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651" y="4363010"/>
            <a:ext cx="1251644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Insider Risk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651" y="4537769"/>
            <a:ext cx="328136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IRM policies not configured; leaver and data theft scenarios unmonitored.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79380" y="4421832"/>
            <a:ext cx="175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GAP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651" y="4937487"/>
            <a:ext cx="1011287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HR Connector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6651" y="5112246"/>
            <a:ext cx="3555115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HR Connector not configured — leaver policy triggers unavailable; critical for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IRM effectiveness.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4159" y="4996308"/>
            <a:ext cx="75098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NOT CONFIGURED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9362" y="1232148"/>
            <a:ext cx="5476875" cy="46863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38887" y="1241673"/>
            <a:ext cx="5457825" cy="6000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29387" y="1399728"/>
            <a:ext cx="304800" cy="3048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44931" y="1418778"/>
            <a:ext cx="962025" cy="2667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9387" y="2129879"/>
            <a:ext cx="5076825" cy="6286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87533" y="2228850"/>
            <a:ext cx="485775" cy="2095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9387" y="2846933"/>
            <a:ext cx="5076825" cy="6286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9756" y="2945903"/>
            <a:ext cx="323850" cy="2095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9387" y="3563987"/>
            <a:ext cx="5076825" cy="6286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94789" y="3662957"/>
            <a:ext cx="781050" cy="2095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9387" y="4281041"/>
            <a:ext cx="5076825" cy="6286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87347" y="4380011"/>
            <a:ext cx="790575" cy="2095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9387" y="4998094"/>
            <a:ext cx="5076825" cy="6286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77537" y="5097065"/>
            <a:ext cx="695325" cy="2095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00825" y="1487388"/>
            <a:ext cx="161925" cy="12948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753427" y="1494978"/>
            <a:ext cx="114300" cy="1143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58880" y="2286000"/>
            <a:ext cx="85725" cy="1143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30305" y="3003053"/>
            <a:ext cx="142875" cy="1143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737449" y="3720107"/>
            <a:ext cx="128587" cy="1143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758880" y="4437161"/>
            <a:ext cx="85725" cy="1143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737449" y="5154215"/>
            <a:ext cx="128587" cy="1143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925567" y="1451223"/>
            <a:ext cx="175840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21007" y="1485453"/>
            <a:ext cx="58147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alibri"/>
              </a:rPr>
              <a:t>Score [X] / 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15013" y="2211849"/>
            <a:ext cx="1407021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Access Review Configuration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15013" y="2386607"/>
            <a:ext cx="3770951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Access Reviews configured for some groups; completion rates below 70% — stale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access persists.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5519" y="2270670"/>
            <a:ext cx="337988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CD34D"/>
                </a:solidFill>
                <a:latin typeface="Calibri"/>
              </a:rPr>
              <a:t>PARTIAL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5013" y="2928902"/>
            <a:ext cx="1491108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Guest Governance Framework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15013" y="3103661"/>
            <a:ext cx="4160009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No formal guest lifecycle policy; external identities accumulate without periodic review or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expiry.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27742" y="2987724"/>
            <a:ext cx="175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GAP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15013" y="3645956"/>
            <a:ext cx="166241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Entitlement Management Catalog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15013" y="3820715"/>
            <a:ext cx="3607694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Access packages not deployed; resource access provisioned manually without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policy-driven workflows.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72775" y="3704778"/>
            <a:ext cx="63073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87171"/>
                </a:solidFill>
                <a:latin typeface="Calibri"/>
              </a:rPr>
              <a:t>NOT DEPLOYED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15013" y="4363010"/>
            <a:ext cx="1342578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Compliance Manager 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15013" y="4537769"/>
            <a:ext cx="3371470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Score below target threshold; NIST/CIS control mapping incomplete with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significant unassigned actions.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65333" y="4421832"/>
            <a:ext cx="638175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CD34D"/>
                </a:solidFill>
                <a:latin typeface="Calibri"/>
              </a:rPr>
              <a:t>BELOW TARGET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15013" y="5080064"/>
            <a:ext cx="1336178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NIST / CIS Control Mapping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15013" y="5254823"/>
            <a:ext cx="3808815" cy="2759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D1D5DB"/>
                </a:solidFill>
                <a:latin typeface="Calibri"/>
              </a:rPr>
              <a:t>Mapping initiated but not complete; improvement actions not assigned to owners</a:t>
            </a:r>
            <a:r>
              <a:rPr sz="864" b="0" i="0">
                <a:solidFill>
                  <a:srgbClr val="D1D5DB"/>
                </a:solidFill>
                <a:latin typeface="Calibri"/>
              </a:rPr>
              <a:t> or tracked to closure.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55523" y="5138886"/>
            <a:ext cx="547985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CD34D"/>
                </a:solidFill>
                <a:latin typeface="Calibri"/>
              </a:rPr>
              <a:t>IN PROGRESS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