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7475" y="0"/>
            <a:ext cx="1762125" cy="121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1000" y="260359"/>
            <a:ext cx="7603484" cy="61539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Identity &amp; Access — </a:t>
            </a:r>
            <a:r>
              <a:rPr sz="3600" b="1" i="0">
                <a:solidFill>
                  <a:srgbClr val="FF6200"/>
                </a:solidFill>
                <a:latin typeface="Calibri"/>
              </a:rPr>
              <a:t>Detailed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811708"/>
            <a:ext cx="3105894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D1D5DB"/>
                </a:solidFill>
                <a:latin typeface="Calibri"/>
              </a:rPr>
              <a:t>DOMAIN ASSESSMENT · IDENTITY &amp; ACCESS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1457" y="318045"/>
            <a:ext cx="897731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D1D5DB"/>
                </a:solidFill>
                <a:latin typeface="Calibri"/>
              </a:rPr>
              <a:t>IAM DOMAIN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3835" y="480833"/>
            <a:ext cx="472826" cy="243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FF6200"/>
                </a:solidFill>
                <a:latin typeface="Calibri"/>
              </a:rPr>
              <a:t>X /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09696" y="759767"/>
            <a:ext cx="501104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D1D5DB"/>
                </a:solidFill>
                <a:latin typeface="Calibri"/>
              </a:rPr>
              <a:t>LEVEL LABEL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46571"/>
            <a:ext cx="5600700" cy="5524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525" y="1156096"/>
            <a:ext cx="5581650" cy="5429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3285" y="2069008"/>
            <a:ext cx="5210175" cy="590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3285" y="2742604"/>
            <a:ext cx="5210175" cy="590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3285" y="3416200"/>
            <a:ext cx="5210175" cy="590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3285" y="4089796"/>
            <a:ext cx="5210175" cy="5905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3285" y="4763392"/>
            <a:ext cx="5210175" cy="5905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3285" y="5700414"/>
            <a:ext cx="5210175" cy="5905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3285" y="1318319"/>
            <a:ext cx="191988" cy="191988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6160" y="2180183"/>
            <a:ext cx="161925" cy="12948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6160" y="2853779"/>
            <a:ext cx="113407" cy="12948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6160" y="3527375"/>
            <a:ext cx="97184" cy="12948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6160" y="4200971"/>
            <a:ext cx="161925" cy="12948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6160" y="4874567"/>
            <a:ext cx="161925" cy="12948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6160" y="5811589"/>
            <a:ext cx="129480" cy="1294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56654" y="1298971"/>
            <a:ext cx="226814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FF6200"/>
                </a:solidFill>
                <a:latin typeface="Calibri"/>
              </a:rPr>
              <a:t>Current State &amp; Key Findings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7056" y="2162323"/>
            <a:ext cx="4772944" cy="39588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93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FF6200"/>
                </a:solidFill>
                <a:latin typeface="Calibri"/>
              </a:rPr>
              <a:t>Global Admin:</a:t>
            </a:r>
            <a:r>
              <a:rPr sz="1209" b="0" i="0">
                <a:solidFill>
                  <a:srgbClr val="FFFFFF"/>
                </a:solidFill>
                <a:latin typeface="Calibri"/>
              </a:rPr>
              <a:t> Permanent GA assignments present — no time-limited or</a:t>
            </a:r>
            <a:r>
              <a:rPr sz="1209" b="0" i="0">
                <a:solidFill>
                  <a:srgbClr val="FFFFFF"/>
                </a:solidFill>
                <a:latin typeface="Calibri"/>
              </a:rPr>
              <a:t> PIM-activated roles in use.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538" y="2835919"/>
            <a:ext cx="4680049" cy="39588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93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FF6200"/>
                </a:solidFill>
                <a:latin typeface="Calibri"/>
              </a:rPr>
              <a:t>PIM Status:</a:t>
            </a:r>
            <a:r>
              <a:rPr sz="1209" b="0" i="0">
                <a:solidFill>
                  <a:srgbClr val="FFFFFF"/>
                </a:solidFill>
                <a:latin typeface="Calibri"/>
              </a:rPr>
              <a:t> Privileged Identity Management not configured or partially</a:t>
            </a:r>
            <a:r>
              <a:rPr sz="1209" b="0" i="0">
                <a:solidFill>
                  <a:srgbClr val="FFFFFF"/>
                </a:solidFill>
                <a:latin typeface="Calibri"/>
              </a:rPr>
              <a:t> deployed across admin roles.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316" y="3509516"/>
            <a:ext cx="4687560" cy="39588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93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FF6200"/>
                </a:solidFill>
                <a:latin typeface="Calibri"/>
              </a:rPr>
              <a:t>Access Reviews:</a:t>
            </a:r>
            <a:r>
              <a:rPr sz="1209" b="0" i="0">
                <a:solidFill>
                  <a:srgbClr val="FFFFFF"/>
                </a:solidFill>
                <a:latin typeface="Calibri"/>
              </a:rPr>
              <a:t> No recurring Access Review cadence established; stale</a:t>
            </a:r>
            <a:r>
              <a:rPr sz="1209" b="0" i="0">
                <a:solidFill>
                  <a:srgbClr val="FFFFFF"/>
                </a:solidFill>
                <a:latin typeface="Calibri"/>
              </a:rPr>
              <a:t> entitlements undetected.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7056" y="4183112"/>
            <a:ext cx="4738453" cy="39588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93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FF6200"/>
                </a:solidFill>
                <a:latin typeface="Calibri"/>
              </a:rPr>
              <a:t>Guest Governance:</a:t>
            </a:r>
            <a:r>
              <a:rPr sz="1209" b="0" i="0">
                <a:solidFill>
                  <a:srgbClr val="FFFFFF"/>
                </a:solidFill>
                <a:latin typeface="Calibri"/>
              </a:rPr>
              <a:t> Guest accounts lack lifecycle policy; no expiration or</a:t>
            </a:r>
            <a:r>
              <a:rPr sz="1209" b="0" i="0">
                <a:solidFill>
                  <a:srgbClr val="FFFFFF"/>
                </a:solidFill>
                <a:latin typeface="Calibri"/>
              </a:rPr>
              <a:t> sponsor assignment enforced.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7056" y="4856708"/>
            <a:ext cx="4378368" cy="42747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93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FF6200"/>
                </a:solidFill>
                <a:latin typeface="Calibri"/>
              </a:rPr>
              <a:t>Service Principals:</a:t>
            </a:r>
            <a:r>
              <a:rPr sz="1209" b="0" i="0">
                <a:solidFill>
                  <a:srgbClr val="FFFFFF"/>
                </a:solidFill>
                <a:latin typeface="Calibri"/>
              </a:rPr>
              <a:t> Service principal audit incomplete — credential</a:t>
            </a:r>
            <a:r>
              <a:rPr sz="1209" b="0" i="0">
                <a:solidFill>
                  <a:srgbClr val="FFFFFF"/>
                </a:solidFill>
                <a:latin typeface="Calibri"/>
              </a:rPr>
              <a:t> rotation and ownership undocumented.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4612" y="5793730"/>
            <a:ext cx="4716992" cy="39588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93"/>
              </a:lnSpc>
              <a:spcBef>
                <a:spcPts val="0"/>
              </a:spcBef>
              <a:spcAft>
                <a:spcPts val="0"/>
              </a:spcAft>
            </a:pPr>
            <a:r>
              <a:rPr sz="1209" b="0" i="0">
                <a:solidFill>
                  <a:srgbClr val="FCA5A5"/>
                </a:solidFill>
                <a:latin typeface="Calibri"/>
              </a:rPr>
              <a:t>Emergency access accounts not tested recently — break-glass procedure</a:t>
            </a:r>
            <a:r>
              <a:rPr sz="1209" b="0" i="0">
                <a:solidFill>
                  <a:srgbClr val="FCA5A5"/>
                </a:solidFill>
                <a:latin typeface="Calibri"/>
              </a:rPr>
              <a:t> unverified and at risk.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1146571"/>
            <a:ext cx="5600700" cy="55245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19825" y="1156096"/>
            <a:ext cx="5581650" cy="54292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02585" y="2339280"/>
            <a:ext cx="5210175" cy="7620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45460" y="2438251"/>
            <a:ext cx="533400" cy="1905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02585" y="3178671"/>
            <a:ext cx="5210175" cy="94297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45460" y="3277641"/>
            <a:ext cx="581025" cy="1905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02585" y="4199483"/>
            <a:ext cx="5210175" cy="94297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45460" y="4298453"/>
            <a:ext cx="581025" cy="1905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02585" y="5483721"/>
            <a:ext cx="5210175" cy="54292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02585" y="1318319"/>
            <a:ext cx="191988" cy="191988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45460" y="5594895"/>
            <a:ext cx="129480" cy="12948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685954" y="1298971"/>
            <a:ext cx="2587674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60A5FA"/>
                </a:solidFill>
                <a:latin typeface="Calibri"/>
              </a:rPr>
              <a:t>Recommended Actions by Phase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13921" y="2478137"/>
            <a:ext cx="397966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719" b="1" i="0">
                <a:solidFill>
                  <a:srgbClr val="FCA5A5"/>
                </a:solidFill>
                <a:latin typeface="Calibri"/>
              </a:rPr>
              <a:t>DAYS 1–30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79319" y="2432595"/>
            <a:ext cx="1252686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714"/>
              </a:lnSpc>
              <a:spcBef>
                <a:spcPts val="0"/>
              </a:spcBef>
              <a:spcAft>
                <a:spcPts val="0"/>
              </a:spcAft>
            </a:pPr>
            <a:r>
              <a:rPr sz="1142" b="1" i="0">
                <a:solidFill>
                  <a:srgbClr val="FFFFFF"/>
                </a:solidFill>
                <a:latin typeface="Calibri"/>
              </a:rPr>
              <a:t>Stabilize — Priority 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79319" y="2665362"/>
            <a:ext cx="4502304" cy="42609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29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D1D5DB"/>
                </a:solidFill>
                <a:latin typeface="Calibri"/>
              </a:rPr>
              <a:t>Verify &amp; test emergency access accounts · Reduce permanent GA assignments ·</a:t>
            </a:r>
            <a:r>
              <a:rPr sz="1058" b="0" i="0">
                <a:solidFill>
                  <a:srgbClr val="D1D5DB"/>
                </a:solidFill>
                <a:latin typeface="Calibri"/>
              </a:rPr>
              <a:t>Enable PIM for all privileged roles · Document break-glass procedure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13921" y="3317527"/>
            <a:ext cx="444251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719" b="1" i="0">
                <a:solidFill>
                  <a:srgbClr val="FCD34D"/>
                </a:solidFill>
                <a:latin typeface="Calibri"/>
              </a:rPr>
              <a:t>DAYS 31–60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25605" y="3271986"/>
            <a:ext cx="1203721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714"/>
              </a:lnSpc>
              <a:spcBef>
                <a:spcPts val="0"/>
              </a:spcBef>
              <a:spcAft>
                <a:spcPts val="0"/>
              </a:spcAft>
            </a:pPr>
            <a:r>
              <a:rPr sz="1142" b="1" i="0">
                <a:solidFill>
                  <a:srgbClr val="FFFFFF"/>
                </a:solidFill>
                <a:latin typeface="Calibri"/>
              </a:rPr>
              <a:t>Enforce — Priority 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25605" y="3504753"/>
            <a:ext cx="4437154" cy="52476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29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D1D5DB"/>
                </a:solidFill>
                <a:latin typeface="Calibri"/>
              </a:rPr>
              <a:t>Configure recurring Access Reviews (quarterly minimum) · Deploy Entitlement</a:t>
            </a:r>
            <a:r>
              <a:rPr sz="1058" b="0" i="0">
                <a:solidFill>
                  <a:srgbClr val="D1D5DB"/>
                </a:solidFill>
                <a:latin typeface="Calibri"/>
              </a:rPr>
              <a:t> Management catalogs · Establish guest lifecycle policy with expiration &amp;</a:t>
            </a:r>
            <a:r>
              <a:rPr sz="1058" b="0" i="0">
                <a:solidFill>
                  <a:srgbClr val="D1D5DB"/>
                </a:solidFill>
                <a:latin typeface="Calibri"/>
              </a:rPr>
              <a:t> sponsor assignment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13921" y="4338339"/>
            <a:ext cx="444251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719" b="1" i="0">
                <a:solidFill>
                  <a:srgbClr val="6EE7B7"/>
                </a:solidFill>
                <a:latin typeface="Calibri"/>
              </a:rPr>
              <a:t>DAYS 61–90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25605" y="4292798"/>
            <a:ext cx="1199108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714"/>
              </a:lnSpc>
              <a:spcBef>
                <a:spcPts val="0"/>
              </a:spcBef>
              <a:spcAft>
                <a:spcPts val="0"/>
              </a:spcAft>
            </a:pPr>
            <a:r>
              <a:rPr sz="1142" b="1" i="0">
                <a:solidFill>
                  <a:srgbClr val="FFFFFF"/>
                </a:solidFill>
                <a:latin typeface="Calibri"/>
              </a:rPr>
              <a:t>Mature — Priority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25605" y="4525565"/>
            <a:ext cx="4460455" cy="538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29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D1D5DB"/>
                </a:solidFill>
                <a:latin typeface="Calibri"/>
              </a:rPr>
              <a:t>Automate joiner-mover-leaver lifecycle via HR Connector · Complete service</a:t>
            </a:r>
            <a:r>
              <a:rPr sz="1058" b="0" i="0">
                <a:solidFill>
                  <a:srgbClr val="D1D5DB"/>
                </a:solidFill>
                <a:latin typeface="Calibri"/>
              </a:rPr>
              <a:t> principal audit with ownership &amp; rotation schedule · Achieve full PIM coverage</a:t>
            </a:r>
            <a:r>
              <a:rPr sz="1058" b="0" i="0">
                <a:solidFill>
                  <a:srgbClr val="D1D5DB"/>
                </a:solidFill>
                <a:latin typeface="Calibri"/>
              </a:rPr>
              <a:t> across all privileged roles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73912" y="5577036"/>
            <a:ext cx="4907457" cy="37137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82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D1D5DB"/>
                </a:solidFill>
                <a:latin typeface="Calibri"/>
              </a:rPr>
              <a:t>Who has permanent Global Admin right now? · What does your JML process look like?</a:t>
            </a:r>
            <a:r>
              <a:rPr sz="1058" b="0" i="0">
                <a:solidFill>
                  <a:srgbClr val="D1D5DB"/>
                </a:solidFill>
                <a:latin typeface="Calibri"/>
              </a:rPr>
              <a:t>· When were emergency access accounts last tested?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3285" y="5476875"/>
            <a:ext cx="947142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D1D5DB">
                    <a:alpha val="70000"/>
                  </a:srgbClr>
                </a:solidFill>
                <a:latin typeface="Calibri"/>
              </a:rPr>
              <a:t>IMMEDIATE ESCALATION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2585" y="5260181"/>
            <a:ext cx="1138981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D1D5DB">
                    <a:alpha val="70000"/>
                  </a:srgbClr>
                </a:solidFill>
                <a:latin typeface="Calibri"/>
              </a:rPr>
              <a:t>KEY ASSESSMENT QUESTIONS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091237" y="1697831"/>
            <a:ext cx="9525" cy="4448175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0" y="0"/>
            <a:ext cx="4876800" cy="38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