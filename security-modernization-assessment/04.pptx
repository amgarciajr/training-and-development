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xMode val="edge"/>
          <c:yMode val="edge"/>
          <c:x val="0.03"/>
          <c:y val="0.03"/>
          <c:w val="0.94"/>
          <c:h val="0.9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Maturity Score</c:v>
                </c:pt>
              </c:strCache>
            </c:strRef>
          </c:tx>
          <c:dPt>
            <c:idx val="0"/>
            <c:spPr>
              <a:ln w="25400">
                <a:solidFill>
                  <a:srgbClr val="EAB308"/>
                </a:solidFill>
              </a:ln>
            </c:spPr>
          </c:dPt>
          <c:dPt>
            <c:idx val="1"/>
            <c:spPr>
              <a:ln w="25400">
                <a:solidFill>
                  <a:srgbClr val="EAB308"/>
                </a:solidFill>
              </a:ln>
            </c:spPr>
          </c:dPt>
          <c:dPt>
            <c:idx val="2"/>
            <c:spPr>
              <a:ln w="25400">
                <a:solidFill>
                  <a:srgbClr val="EAB308"/>
                </a:solidFill>
              </a:ln>
            </c:spPr>
          </c:dPt>
          <c:dPt>
            <c:idx val="3"/>
            <c:spPr>
              <a:ln w="25400">
                <a:solidFill>
                  <a:srgbClr val="F97316"/>
                </a:solidFill>
              </a:ln>
            </c:spPr>
          </c:dPt>
          <c:dPt>
            <c:idx val="4"/>
            <c:spPr>
              <a:ln w="25400">
                <a:solidFill>
                  <a:srgbClr val="F97316"/>
                </a:solidFill>
              </a:ln>
            </c:spPr>
          </c:dPt>
          <c:dPt>
            <c:idx val="5"/>
            <c:spPr>
              <a:ln w="25400">
                <a:solidFill>
                  <a:srgbClr val="F97316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Identity &amp; Access Mgmt</c:v>
                </c:pt>
                <c:pt idx="1">
                  <c:v>Conditional Access</c:v>
                </c:pt>
                <c:pt idx="2">
                  <c:v>MFA &amp; Authentication</c:v>
                </c:pt>
                <c:pt idx="3">
                  <c:v>Data Protection (Purview)</c:v>
                </c:pt>
                <c:pt idx="4">
                  <c:v>Governance &amp; Compliance</c:v>
                </c:pt>
                <c:pt idx="5">
                  <c:v>Resilience &amp; SOC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axId val="-2068027336"/>
        <c:axId val="-2113994440"/>
        <c:gapWidth val="38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50">
                <a:solidFill>
                  <a:srgbClr val="F3F4F6"/>
                </a:solidFill>
                <a:latin typeface="Calibr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Gridlines>
          <c:spPr>
            <a:ln w="12700">
              <a:solidFill>
                <a:srgbClr val="FFFFFF">
                  <a:alpha val="6000"/>
                </a:srgbClr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900">
                    <a:solidFill>
                      <a:srgbClr val="6B7280"/>
                    </a:solidFill>
                    <a:latin typeface="Calibri"/>
                    <a:ea typeface="Microsoft YaHei"/>
                  </a:rPr>
                  <a:t>Maturity Score (1 = Initial → 5 = Optimized)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75">
                <a:solidFill>
                  <a:srgbClr val="9CA3AF"/>
                </a:solidFill>
                <a:latin typeface="Calibr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spPr>
    <a:solidFill>
      <a:srgbClr val="111827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133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5207"/>
            <a:ext cx="7024389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Domain Maturity Scores —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96081"/>
            <a:ext cx="4706391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D1D5DB"/>
                </a:solidFill>
                <a:latin typeface="Calibri"/>
              </a:rPr>
              <a:t>Five-Domain Assessment Baseline  ·  Security Modernization Field Guide §3.4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196" y="1975991"/>
            <a:ext cx="4276725" cy="352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196" y="2500014"/>
            <a:ext cx="4276725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3021" y="2608659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196" y="3075533"/>
            <a:ext cx="4276725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3021" y="3184177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196" y="3651051"/>
            <a:ext cx="4276725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3021" y="3759696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196" y="4226569"/>
            <a:ext cx="4276725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3021" y="4335214"/>
            <a:ext cx="2667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9196" y="4802088"/>
            <a:ext cx="4276725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3021" y="4910732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79196" y="5453806"/>
            <a:ext cx="4276725" cy="561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31596" y="2004566"/>
            <a:ext cx="2470993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FF6200"/>
                </a:solidFill>
                <a:latin typeface="Calibri"/>
              </a:rPr>
              <a:t>Maturity Scale 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3480" y="2654349"/>
            <a:ext cx="6563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827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4021" y="2578000"/>
            <a:ext cx="343495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Initial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4021" y="2751683"/>
            <a:ext cx="255924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No formal process — reactive, active exploitation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3480" y="3229867"/>
            <a:ext cx="6563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827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4021" y="3153519"/>
            <a:ext cx="675977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Developing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4021" y="3327201"/>
            <a:ext cx="227067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Some controls exist but inconsistently enforced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3480" y="3805386"/>
            <a:ext cx="6563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827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4021" y="3729037"/>
            <a:ext cx="471338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Defined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4021" y="3902719"/>
            <a:ext cx="275317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Core controls in place, documented, no active exploit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3480" y="4380904"/>
            <a:ext cx="6563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827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4021" y="4304555"/>
            <a:ext cx="564505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Managed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4021" y="4478238"/>
            <a:ext cx="249629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Monitored, measured, repeatable, metrics available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3480" y="4956423"/>
            <a:ext cx="6563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827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4021" y="4880074"/>
            <a:ext cx="618083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Optimized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4021" y="5053756"/>
            <a:ext cx="264378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D1D5DB"/>
                </a:solidFill>
                <a:latin typeface="Calibri"/>
              </a:rPr>
              <a:t>Automated, continuous improvement, threat-informed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791" y="5571827"/>
            <a:ext cx="3963978" cy="4125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77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F6200"/>
                </a:solidFill>
                <a:latin typeface="Calibri"/>
              </a:rPr>
              <a:t>Framing:</a:t>
            </a:r>
            <a:r>
              <a:rPr sz="984" b="0" i="0">
                <a:solidFill>
                  <a:srgbClr val="D1D5DB"/>
                </a:solidFill>
                <a:latin typeface="Calibri"/>
              </a:rPr>
              <a:t> These scores represent your </a:t>
            </a:r>
            <a:r>
              <a:rPr sz="984" b="1" i="0">
                <a:solidFill>
                  <a:srgbClr val="FF6200"/>
                </a:solidFill>
                <a:latin typeface="Calibri"/>
              </a:rPr>
              <a:t>starting baseline</a:t>
            </a:r>
            <a:r>
              <a:rPr sz="984" b="0" i="0">
                <a:solidFill>
                  <a:srgbClr val="D1D5DB"/>
                </a:solidFill>
                <a:latin typeface="Calibri"/>
              </a:rPr>
              <a:t> — not a grade. The</a:t>
            </a:r>
            <a:r>
              <a:rPr sz="984" b="0" i="0">
                <a:solidFill>
                  <a:srgbClr val="D1D5DB"/>
                </a:solidFill>
                <a:latin typeface="Calibri"/>
              </a:rPr>
              <a:t> question is </a:t>
            </a:r>
            <a:r>
              <a:rPr sz="984" b="0" i="1">
                <a:solidFill>
                  <a:srgbClr val="D1D5DB"/>
                </a:solidFill>
                <a:latin typeface="Calibri"/>
              </a:rPr>
              <a:t>"Where are we starting from?"</a:t>
            </a:r>
            <a:r>
              <a:rPr sz="984" b="0" i="0">
                <a:solidFill>
                  <a:srgbClr val="D1D5DB"/>
                </a:solidFill>
                <a:latin typeface="Calibri"/>
              </a:rPr>
              <a:t> not </a:t>
            </a:r>
            <a:r>
              <a:rPr sz="984" b="0" i="1">
                <a:solidFill>
                  <a:srgbClr val="D1D5DB"/>
                </a:solidFill>
                <a:latin typeface="Calibri"/>
              </a:rPr>
              <a:t>"How did you do?"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57200" y="1329481"/>
          <a:ext cx="6534150" cy="5334000"/>
        </p:xfrm>
        <a:graphic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