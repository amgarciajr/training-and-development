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3048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47625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914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65816" y="495151"/>
            <a:ext cx="1790700" cy="285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238125"/>
            <a:ext cx="111472" cy="99119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08691" y="577006"/>
            <a:ext cx="121890" cy="1218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4872" y="219075"/>
            <a:ext cx="865137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FF6200"/>
                </a:solidFill>
                <a:latin typeface="Calibri"/>
              </a:rPr>
              <a:t> 90-DAY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403913"/>
            <a:ext cx="5975449" cy="36880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FFFFFF"/>
                </a:solidFill>
                <a:latin typeface="Calibri"/>
              </a:rPr>
              <a:t>Prioritized Recommendations &amp; Next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06781" y="571351"/>
            <a:ext cx="1308943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1D5DB"/>
                </a:solidFill>
                <a:latin typeface="Calibri"/>
              </a:rPr>
              <a:t>SECURITY MODERNIZATION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2160389"/>
            <a:ext cx="5667375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7225" y="2187029"/>
            <a:ext cx="106560" cy="10670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9985" y="2169914"/>
            <a:ext cx="987921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FF6200"/>
                </a:solidFill>
                <a:latin typeface="Calibri"/>
              </a:rPr>
              <a:t>ROADMAP PRIORITIES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7750" y="2453729"/>
            <a:ext cx="5153025" cy="7143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6382" y="2452776"/>
            <a:ext cx="308967" cy="25907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6200">
                    <a:alpha val="18000"/>
                  </a:srgbClr>
                </a:solidFill>
                <a:latin typeface="Calibr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50" y="2472779"/>
            <a:ext cx="1293087" cy="2674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1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FF6200"/>
                </a:solidFill>
                <a:latin typeface="Calibri"/>
              </a:rPr>
              <a:t>Days 1–30:</a:t>
            </a:r>
            <a:r>
              <a:rPr sz="1139" b="1" i="0">
                <a:solidFill>
                  <a:srgbClr val="FFFFFF"/>
                </a:solidFill>
                <a:latin typeface="Calibri"/>
              </a:rPr>
              <a:t> Stabilize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7750" y="2708969"/>
            <a:ext cx="5181394" cy="3317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92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D1D5DB"/>
                </a:solidFill>
                <a:latin typeface="Calibri"/>
              </a:rPr>
              <a:t>Emergency access accounts verified, admin MFA enforced, legacy auth blocked, CA policies in report-</a:t>
            </a:r>
            <a:r>
              <a:rPr sz="960" b="0" i="0">
                <a:solidFill>
                  <a:srgbClr val="D1D5DB"/>
                </a:solidFill>
                <a:latin typeface="Calibri"/>
              </a:rPr>
              <a:t> only mode, sensitivity label taxonomy defined.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7750" y="3309937"/>
            <a:ext cx="5153025" cy="7143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86382" y="3308985"/>
            <a:ext cx="308967" cy="25907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6200">
                    <a:alpha val="18000"/>
                  </a:srgbClr>
                </a:solidFill>
                <a:latin typeface="Calibr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750" y="3328987"/>
            <a:ext cx="1318380" cy="2492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1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FF6200"/>
                </a:solidFill>
                <a:latin typeface="Calibri"/>
              </a:rPr>
              <a:t>Days 31–60:</a:t>
            </a:r>
            <a:r>
              <a:rPr sz="1139" b="1" i="0">
                <a:solidFill>
                  <a:srgbClr val="FFFFFF"/>
                </a:solidFill>
                <a:latin typeface="Calibri"/>
              </a:rPr>
              <a:t> Enforce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7750" y="3565177"/>
            <a:ext cx="4890597" cy="39025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92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D1D5DB"/>
                </a:solidFill>
                <a:latin typeface="Calibri"/>
              </a:rPr>
              <a:t>Full MFA rollout completed, CA policies moved to enforcement, DLP activated on Exchange and</a:t>
            </a:r>
            <a:r>
              <a:rPr sz="960" b="0" i="0">
                <a:solidFill>
                  <a:srgbClr val="D1D5DB"/>
                </a:solidFill>
                <a:latin typeface="Calibri"/>
              </a:rPr>
              <a:t> SharePoint, Access Reviews configured, Defender XDR baseline deployed.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7750" y="4166145"/>
            <a:ext cx="5153025" cy="7143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6382" y="4165193"/>
            <a:ext cx="308967" cy="25907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6200">
                    <a:alpha val="18000"/>
                  </a:srgbClr>
                </a:solidFill>
                <a:latin typeface="Calibr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7750" y="4185195"/>
            <a:ext cx="1313628" cy="23695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1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FF6200"/>
                </a:solidFill>
                <a:latin typeface="Calibri"/>
              </a:rPr>
              <a:t>Days 61–90:</a:t>
            </a:r>
            <a:r>
              <a:rPr sz="1139" b="1" i="0">
                <a:solidFill>
                  <a:srgbClr val="FFFFFF"/>
                </a:solidFill>
                <a:latin typeface="Calibri"/>
              </a:rPr>
              <a:t> Mature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7750" y="4421385"/>
            <a:ext cx="5255894" cy="351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92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D1D5DB"/>
                </a:solidFill>
                <a:latin typeface="Calibri"/>
              </a:rPr>
              <a:t>Phishing-resistant authentication deployed, endpoint DLP enabled, full PIM coverage achieved, Insider</a:t>
            </a:r>
            <a:r>
              <a:rPr sz="960" b="0" i="0">
                <a:solidFill>
                  <a:srgbClr val="D1D5DB"/>
                </a:solidFill>
                <a:latin typeface="Calibri"/>
              </a:rPr>
              <a:t> Risk Management configured, Copilot readiness assessed.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6382" y="5021401"/>
            <a:ext cx="308967" cy="259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6200">
                    <a:alpha val="18000"/>
                  </a:srgbClr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7750" y="5041403"/>
            <a:ext cx="1775040" cy="24355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1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FF6200"/>
                </a:solidFill>
                <a:latin typeface="Calibri"/>
              </a:rPr>
              <a:t>Engagement Close:</a:t>
            </a:r>
            <a:r>
              <a:rPr sz="1139" b="1" i="0">
                <a:solidFill>
                  <a:srgbClr val="FFFFFF"/>
                </a:solidFill>
                <a:latin typeface="Calibri"/>
              </a:rPr>
              <a:t> Handoff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7750" y="5277594"/>
            <a:ext cx="4901328" cy="3652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92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D1D5DB"/>
                </a:solidFill>
                <a:latin typeface="Calibri"/>
              </a:rPr>
              <a:t>Operational handoff checklist completed, runbooks written and tested, monitoring and alerting</a:t>
            </a:r>
            <a:r>
              <a:rPr sz="960" b="0" i="0">
                <a:solidFill>
                  <a:srgbClr val="D1D5DB"/>
                </a:solidFill>
                <a:latin typeface="Calibri"/>
              </a:rPr>
              <a:t> configured, governance cadence scheduled with client team.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82667" y="1095226"/>
            <a:ext cx="5067300" cy="55911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01742" y="2128688"/>
            <a:ext cx="106560" cy="10670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984503" y="2111573"/>
            <a:ext cx="1314598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FF6200"/>
                </a:solidFill>
                <a:latin typeface="Calibri"/>
              </a:rPr>
              <a:t>IMPLEMENTATION ROADMAP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91300" y="1104900"/>
            <a:ext cx="5057775" cy="285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818018" y="2414438"/>
            <a:ext cx="619125" cy="20002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01792" y="2677417"/>
            <a:ext cx="4229100" cy="44767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201792" y="2435869"/>
            <a:ext cx="463897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056" b="1" i="0">
                <a:solidFill>
                  <a:srgbClr val="FFFFFF"/>
                </a:solidFill>
                <a:latin typeface="Calibri"/>
              </a:rPr>
              <a:t>Stabilize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13268" y="2452538"/>
            <a:ext cx="431006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6200"/>
                </a:solidFill>
                <a:latin typeface="Calibri"/>
              </a:rPr>
              <a:t>DAYS 1–30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35142" y="2753617"/>
            <a:ext cx="3856084" cy="2933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Priority:</a:t>
            </a:r>
            <a:r>
              <a:rPr sz="900" b="0" i="0">
                <a:solidFill>
                  <a:srgbClr val="D1D5DB"/>
                </a:solidFill>
                <a:latin typeface="Calibri"/>
              </a:rPr>
              <a:t> Emergency access, admin MFA, legacy auth block, CA report-only, label</a:t>
            </a:r>
            <a:r>
              <a:rPr sz="900" b="0" i="0">
                <a:solidFill>
                  <a:srgbClr val="D1D5DB"/>
                </a:solidFill>
                <a:latin typeface="Calibri"/>
              </a:rPr>
              <a:t> taxonomy.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24675" y="2686050"/>
            <a:ext cx="19050" cy="73342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67863" y="3264098"/>
            <a:ext cx="666750" cy="20002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01792" y="3527077"/>
            <a:ext cx="4229100" cy="44767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201792" y="3285529"/>
            <a:ext cx="418653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056" b="1" i="0">
                <a:solidFill>
                  <a:srgbClr val="FFFFFF"/>
                </a:solidFill>
                <a:latin typeface="Calibri"/>
              </a:rPr>
              <a:t>Enforce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63113" y="3302198"/>
            <a:ext cx="481161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0A5FA"/>
                </a:solidFill>
                <a:latin typeface="Calibri"/>
              </a:rPr>
              <a:t>DAYS 31–60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35142" y="3603277"/>
            <a:ext cx="3960170" cy="2933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Priority:</a:t>
            </a:r>
            <a:r>
              <a:rPr sz="900" b="0" i="0">
                <a:solidFill>
                  <a:srgbClr val="D1D5DB"/>
                </a:solidFill>
                <a:latin typeface="Calibri"/>
              </a:rPr>
              <a:t> Full MFA rollout, CA enforcement, DLP on Exchange &amp; SharePoint, Access</a:t>
            </a:r>
            <a:r>
              <a:rPr sz="900" b="0" i="0">
                <a:solidFill>
                  <a:srgbClr val="D1D5DB"/>
                </a:solidFill>
                <a:latin typeface="Calibri"/>
              </a:rPr>
              <a:t> Reviews, Defender XDR baseline.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24675" y="3533775"/>
            <a:ext cx="19050" cy="733425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767863" y="4113758"/>
            <a:ext cx="666750" cy="200025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201792" y="4376737"/>
            <a:ext cx="4229100" cy="44767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201792" y="4135189"/>
            <a:ext cx="414337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056" b="1" i="0">
                <a:solidFill>
                  <a:srgbClr val="FFFFFF"/>
                </a:solidFill>
                <a:latin typeface="Calibri"/>
              </a:rPr>
              <a:t>Mature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63113" y="4151858"/>
            <a:ext cx="481161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A78BFA"/>
                </a:solidFill>
                <a:latin typeface="Calibri"/>
              </a:rPr>
              <a:t>DAYS 61–90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35142" y="4452937"/>
            <a:ext cx="3982704" cy="2933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Priority:</a:t>
            </a:r>
            <a:r>
              <a:rPr sz="900" b="0" i="0">
                <a:solidFill>
                  <a:srgbClr val="D1D5DB"/>
                </a:solidFill>
                <a:latin typeface="Calibri"/>
              </a:rPr>
              <a:t> Phishing-resistant auth, endpoint DLP, full PIM, Insider Risk Management,</a:t>
            </a:r>
            <a:r>
              <a:rPr sz="900" b="0" i="0">
                <a:solidFill>
                  <a:srgbClr val="D1D5DB"/>
                </a:solidFill>
                <a:latin typeface="Calibri"/>
              </a:rPr>
              <a:t> Copilot readiness.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24675" y="4381500"/>
            <a:ext cx="19050" cy="733425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841235" y="4963417"/>
            <a:ext cx="590550" cy="200025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201792" y="5226397"/>
            <a:ext cx="4229100" cy="447675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201792" y="4984849"/>
            <a:ext cx="1015603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056" b="1" i="0">
                <a:solidFill>
                  <a:srgbClr val="FFFFFF"/>
                </a:solidFill>
                <a:latin typeface="Calibri"/>
              </a:rPr>
              <a:t>Engagement Close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36485" y="5001517"/>
            <a:ext cx="407789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0B981"/>
                </a:solidFill>
                <a:latin typeface="Calibri"/>
              </a:rPr>
              <a:t>HANDOFF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35142" y="5302597"/>
            <a:ext cx="4108098" cy="2933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Deliverables:</a:t>
            </a:r>
            <a:r>
              <a:rPr sz="900" b="0" i="0">
                <a:solidFill>
                  <a:srgbClr val="D1D5DB"/>
                </a:solidFill>
                <a:latin typeface="Calibri"/>
              </a:rPr>
              <a:t> Operational handoff checklist, runbooks tested, monitoring configured,</a:t>
            </a:r>
            <a:r>
              <a:rPr sz="900" b="0" i="0">
                <a:solidFill>
                  <a:srgbClr val="D1D5DB"/>
                </a:solidFill>
                <a:latin typeface="Calibri"/>
              </a:rPr>
              <a:t> governance cadence scheduled.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801742" y="2414438"/>
            <a:ext cx="266700" cy="2667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908006" y="2477244"/>
            <a:ext cx="54024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FF6200"/>
                </a:solidFill>
                <a:latin typeface="Calibri"/>
              </a:rPr>
              <a:t>1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801742" y="3264098"/>
            <a:ext cx="266700" cy="26670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908006" y="3326903"/>
            <a:ext cx="54024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FF6200"/>
                </a:solidFill>
                <a:latin typeface="Calibri"/>
              </a:rPr>
              <a:t>2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801742" y="4113758"/>
            <a:ext cx="266700" cy="2667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908006" y="4176563"/>
            <a:ext cx="54024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FF6200"/>
                </a:solidFill>
                <a:latin typeface="Calibri"/>
              </a:rPr>
              <a:t>3</a:t>
            </a:r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801742" y="4963417"/>
            <a:ext cx="266700" cy="26670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90444" y="5026223"/>
            <a:ext cx="89296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10B981"/>
                </a:solidFill>
                <a:latin typeface="Segoe UI Emoji"/>
              </a:rPr>
              <a:t>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