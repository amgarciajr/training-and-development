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71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127" y="316259"/>
            <a:ext cx="3228975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952" y="390525"/>
            <a:ext cx="114300" cy="114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23837"/>
            <a:ext cx="5421957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Maturity Scoring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8123" y="390525"/>
            <a:ext cx="281285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1D5DB"/>
                </a:solidFill>
                <a:latin typeface="Calibri"/>
              </a:rPr>
              <a:t>FIELD GUIDE § 3.4 — MATURITY SCORING QUICK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6626869"/>
            <a:ext cx="400496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1">
                <a:solidFill>
                  <a:srgbClr val="D1D5DB">
                    <a:alpha val="50000"/>
                  </a:srgbClr>
                </a:solidFill>
                <a:latin typeface="Calibri"/>
              </a:rPr>
              <a:t>Scores represent a baseline — not a grade. The question is: "Where are we starting from?"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0766" y="6631334"/>
            <a:ext cx="265643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D1D5DB">
                    <a:alpha val="40000"/>
                  </a:srgbClr>
                </a:solidFill>
                <a:latin typeface="Calibri"/>
              </a:rPr>
              <a:t>Security Modernization Field Guide § 3.4 · Delivery Confidential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847725"/>
            <a:ext cx="2316360" cy="476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9098" y="950565"/>
            <a:ext cx="20776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D1D5DB"/>
                </a:solidFill>
                <a:latin typeface="Calibri"/>
              </a:rPr>
              <a:t>Initial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1160" y="847725"/>
            <a:ext cx="2316509" cy="476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71130" y="950565"/>
            <a:ext cx="41642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D1D5DB"/>
                </a:solidFill>
                <a:latin typeface="Calibri"/>
              </a:rPr>
              <a:t>Developing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670" y="847725"/>
            <a:ext cx="2316509" cy="47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95677" y="950565"/>
            <a:ext cx="400347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F6200"/>
                </a:solidFill>
                <a:latin typeface="Calibri"/>
              </a:rPr>
              <a:t>Defined </a:t>
            </a:r>
            <a:r>
              <a:rPr sz="719" b="1" i="0">
                <a:solidFill>
                  <a:srgbClr val="FF6200"/>
                </a:solidFill>
                <a:latin typeface="Segoe UI Emoji"/>
              </a:rPr>
              <a:t>★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4180" y="847725"/>
            <a:ext cx="2316509" cy="476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37636" y="950565"/>
            <a:ext cx="34944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D1D5DB"/>
                </a:solidFill>
                <a:latin typeface="Calibri"/>
              </a:rPr>
              <a:t>Managed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70690" y="847725"/>
            <a:ext cx="2316509" cy="476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38519" y="950565"/>
            <a:ext cx="38070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D1D5DB"/>
                </a:solidFill>
                <a:latin typeface="Calibri"/>
              </a:rPr>
              <a:t>Optimized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1261020"/>
            <a:ext cx="2219325" cy="5133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970" y="1384845"/>
            <a:ext cx="3048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3675" y="1441995"/>
            <a:ext cx="7724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970" y="1442239"/>
            <a:ext cx="379511" cy="17602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Initial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221" y="1819126"/>
            <a:ext cx="1836045" cy="3257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No formal process in place; controls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are absent or unknown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221" y="2185689"/>
            <a:ext cx="1752960" cy="3033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Remediation is reactive only — no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proactive posture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221" y="2552253"/>
            <a:ext cx="1260583" cy="4161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High likelihood of active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exploitation risk present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15604" y="1453455"/>
            <a:ext cx="167580" cy="16758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9970" y="1857226"/>
            <a:ext cx="91380" cy="9138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9970" y="2223789"/>
            <a:ext cx="91380" cy="9138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9970" y="2590353"/>
            <a:ext cx="91380" cy="9138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44080" y="1261020"/>
            <a:ext cx="2219325" cy="5133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19251" y="1384845"/>
            <a:ext cx="304800" cy="304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2955" y="1441995"/>
            <a:ext cx="7724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251" y="1442239"/>
            <a:ext cx="746968" cy="17602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Developing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502" y="1819126"/>
            <a:ext cx="1418475" cy="3550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Some controls exist but not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enforced consistently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502" y="2185689"/>
            <a:ext cx="1860418" cy="3033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Significant gaps remain; policy exists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on paper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502" y="2552253"/>
            <a:ext cx="1577746" cy="3324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Inconsistent application across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teams and workloads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4884" y="1453455"/>
            <a:ext cx="167580" cy="16758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19251" y="1857226"/>
            <a:ext cx="91380" cy="9138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19251" y="2223789"/>
            <a:ext cx="91380" cy="9138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19251" y="2590353"/>
            <a:ext cx="91380" cy="9138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2975" y="1028700"/>
            <a:ext cx="2686050" cy="56007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58531" y="1394370"/>
            <a:ext cx="304800" cy="3048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58531" y="1828651"/>
            <a:ext cx="1885950" cy="4572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29088" y="1918096"/>
            <a:ext cx="93315" cy="1067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272236" y="1451520"/>
            <a:ext cx="7724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9531" y="1451764"/>
            <a:ext cx="520749" cy="17602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EAB308"/>
                </a:solidFill>
                <a:latin typeface="Calibri"/>
              </a:rPr>
              <a:t>Defined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094" y="1908571"/>
            <a:ext cx="141356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BASELINE TARGET — NO 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77197" y="2068562"/>
            <a:ext cx="85635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EXPLOITATION RISK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10782" y="2380803"/>
            <a:ext cx="1848768" cy="3178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Core controls in place and enforced;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documentation exists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10782" y="2747367"/>
            <a:ext cx="1531758" cy="3033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Gaps are known, tracked, and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actively managed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10782" y="3113930"/>
            <a:ext cx="1613923" cy="3445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No active exploitation risk from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baseline control gaps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84789" y="1462980"/>
            <a:ext cx="167580" cy="16758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58531" y="2418903"/>
            <a:ext cx="91380" cy="9138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58531" y="2785467"/>
            <a:ext cx="91380" cy="9138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58531" y="3152030"/>
            <a:ext cx="91380" cy="9138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22790" y="1261020"/>
            <a:ext cx="2219325" cy="513397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97960" y="1384845"/>
            <a:ext cx="304800" cy="3048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11665" y="1441995"/>
            <a:ext cx="7724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78960" y="1442239"/>
            <a:ext cx="623738" cy="17602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Managed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0212" y="1819126"/>
            <a:ext cx="1827920" cy="3033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Controls monitored, measured, and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metrics available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50212" y="2185689"/>
            <a:ext cx="1841563" cy="3133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Exceptions tracked and time-limited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with clear ownership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50212" y="2552253"/>
            <a:ext cx="1749281" cy="3178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Process is repeatable, owned, and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consistently applied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33594" y="1453455"/>
            <a:ext cx="167580" cy="16758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97960" y="1857226"/>
            <a:ext cx="91380" cy="9138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97960" y="2223789"/>
            <a:ext cx="91380" cy="9138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97960" y="2590353"/>
            <a:ext cx="91380" cy="9138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62070" y="1261020"/>
            <a:ext cx="2219325" cy="5133975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837241" y="1384845"/>
            <a:ext cx="304800" cy="304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950946" y="1441995"/>
            <a:ext cx="7724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18241" y="1442239"/>
            <a:ext cx="682972" cy="17602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Optimized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89492" y="1819126"/>
            <a:ext cx="1863484" cy="3033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Controls automated and self-healing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where possible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89492" y="2185689"/>
            <a:ext cx="1855973" cy="3033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Continuous review cadence; metrics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drive improvement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89492" y="2552253"/>
            <a:ext cx="1534057" cy="328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Threat-informed posture with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proactive adaptation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573023" y="1453455"/>
            <a:ext cx="167580" cy="16758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37241" y="1857226"/>
            <a:ext cx="91380" cy="9138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37241" y="2223789"/>
            <a:ext cx="91380" cy="9138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37241" y="2590353"/>
            <a:ext cx="91380" cy="91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