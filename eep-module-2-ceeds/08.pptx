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5191"/>
            <a:ext cx="11277600" cy="82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128891"/>
            <a:ext cx="11277600" cy="59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841" y="6310610"/>
            <a:ext cx="95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104" y="6310610"/>
            <a:ext cx="95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207591"/>
            <a:ext cx="123825" cy="9911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6348710"/>
            <a:ext cx="1143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204698"/>
            <a:ext cx="7136457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CEEDS in Practice — Scenario Exercise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80901"/>
            <a:ext cx="80932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9999"/>
                </a:solidFill>
                <a:latin typeface="Calibri"/>
              </a:rPr>
              <a:t>CEES SCENARIO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427" y="780901"/>
            <a:ext cx="94490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9999"/>
                </a:solidFill>
                <a:latin typeface="Calibri"/>
              </a:rPr>
              <a:t>THE SIGNAL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7237" y="780901"/>
            <a:ext cx="1819721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9999"/>
                </a:solidFill>
                <a:latin typeface="Calibri"/>
              </a:rPr>
              <a:t>TRAINING DELIVERY GUIDE · SECTION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495" y="1188541"/>
            <a:ext cx="806350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SCENARIO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82910"/>
            <a:ext cx="11049749" cy="3562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31"/>
              </a:lnSpc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CCCCCC"/>
                </a:solidFill>
                <a:latin typeface="Calibri"/>
              </a:rPr>
              <a:t>During a Weekly Signal Review, a team member says: </a:t>
            </a:r>
            <a:r>
              <a:rPr sz="1056" b="1" i="1">
                <a:solidFill>
                  <a:srgbClr val="FFFFFF"/>
                </a:solidFill>
                <a:latin typeface="Calibri"/>
              </a:rPr>
              <a:t>"The client seems happy — no complaints this week, the calls have been going well, and they seemed positive in the last meeting."</a:t>
            </a:r>
            <a:r>
              <a:rPr sz="1056" b="0" i="0">
                <a:solidFill>
                  <a:srgbClr val="CCCCCC"/>
                </a:solidFill>
                <a:latin typeface="Calibri"/>
              </a:rPr>
              <a:t>  How do</a:t>
            </a:r>
            <a:r>
              <a:rPr sz="1056" b="0" i="0">
                <a:solidFill>
                  <a:srgbClr val="CCCCCC"/>
                </a:solidFill>
                <a:latin typeface="Calibri"/>
              </a:rPr>
              <a:t> you respond as the Engagement Lead facilitating the review?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6352133"/>
            <a:ext cx="86915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59E0B"/>
                </a:solidFill>
                <a:latin typeface="Calibri"/>
              </a:rPr>
              <a:t>STATUS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4461" y="6246911"/>
            <a:ext cx="2152208" cy="3399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1">
                <a:solidFill>
                  <a:srgbClr val="FFFFFF"/>
                </a:solidFill>
                <a:latin typeface="Calibri"/>
              </a:rPr>
              <a:t>"The client seems happy"</a:t>
            </a:r>
            <a:r>
              <a:rPr sz="984" b="0" i="0">
                <a:solidFill>
                  <a:srgbClr val="CCCCCC"/>
                </a:solidFill>
                <a:latin typeface="Calibri"/>
              </a:rPr>
              <a:t> — impression,</a:t>
            </a:r>
            <a:r>
              <a:rPr sz="984" b="0" i="0">
                <a:solidFill>
                  <a:srgbClr val="CCCCCC"/>
                </a:solidFill>
                <a:latin typeface="Calibri"/>
              </a:rPr>
              <a:t> not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2966" y="6352133"/>
            <a:ext cx="873174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SIGNAL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7521" y="6246911"/>
            <a:ext cx="2316538" cy="3670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1">
                <a:solidFill>
                  <a:srgbClr val="FFFFFF"/>
                </a:solidFill>
                <a:latin typeface="Calibri"/>
              </a:rPr>
              <a:t>"What did the client do or say?"</a:t>
            </a:r>
            <a:r>
              <a:rPr sz="984" b="0" i="0">
                <a:solidFill>
                  <a:srgbClr val="CCCCCC"/>
                </a:solidFill>
                <a:latin typeface="Calibri"/>
              </a:rPr>
              <a:t> — specific,</a:t>
            </a:r>
            <a:r>
              <a:rPr sz="984" b="0" i="0">
                <a:solidFill>
                  <a:srgbClr val="CCCCCC"/>
                </a:solidFill>
                <a:latin typeface="Calibri"/>
              </a:rPr>
              <a:t> observable, actionable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5229" y="6352133"/>
            <a:ext cx="42594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KEY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2556" y="6246911"/>
            <a:ext cx="2634315" cy="3399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CCCCCC"/>
                </a:solidFill>
                <a:latin typeface="Calibri"/>
              </a:rPr>
              <a:t>If you can't point to a behavior, it's not a signal —</a:t>
            </a:r>
            <a:r>
              <a:rPr sz="984" b="0" i="0">
                <a:solidFill>
                  <a:srgbClr val="CCCCCC"/>
                </a:solidFill>
                <a:latin typeface="Calibri"/>
              </a:rPr>
              <a:t>it's a feeling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1237" y="2023020"/>
            <a:ext cx="9525" cy="1743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8419" y="3847355"/>
            <a:ext cx="333375" cy="3333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1237" y="4258716"/>
            <a:ext cx="9525" cy="17430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9594" y="3944391"/>
            <a:ext cx="11266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999999"/>
                </a:solidFill>
                <a:latin typeface="Calibri"/>
              </a:rPr>
              <a:t>VS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023020"/>
            <a:ext cx="5219700" cy="398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725" y="2051595"/>
            <a:ext cx="5200650" cy="504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2165895"/>
            <a:ext cx="266700" cy="266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3325564"/>
            <a:ext cx="4819650" cy="3619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3777704"/>
            <a:ext cx="4819650" cy="3619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" y="4229844"/>
            <a:ext cx="4819650" cy="552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4867572"/>
            <a:ext cx="4819650" cy="3619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7386" y="2230635"/>
            <a:ext cx="7396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59E0B"/>
                </a:solidFill>
                <a:latin typeface="Calibri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815" y="2213520"/>
            <a:ext cx="1128117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59E0B"/>
                </a:solidFill>
                <a:latin typeface="Calibri"/>
              </a:rPr>
              <a:t>Accept &amp; Move 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551" y="3426469"/>
            <a:ext cx="3625084" cy="2415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1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FFFF"/>
                </a:solidFill>
                <a:latin typeface="Calibri"/>
              </a:rPr>
              <a:t>Accept the update</a:t>
            </a:r>
            <a:r>
              <a:rPr sz="1008" b="0" i="0">
                <a:solidFill>
                  <a:srgbClr val="CCCCCC"/>
                </a:solidFill>
                <a:latin typeface="Calibri"/>
              </a:rPr>
              <a:t> — positive sentiment is treated as a valid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551" y="3878609"/>
            <a:ext cx="3293664" cy="2222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1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FFFF"/>
                </a:solidFill>
                <a:latin typeface="Calibri"/>
              </a:rPr>
              <a:t>No follow-up questions</a:t>
            </a:r>
            <a:r>
              <a:rPr sz="1008" b="0" i="0">
                <a:solidFill>
                  <a:srgbClr val="CCCCCC"/>
                </a:solidFill>
                <a:latin typeface="Calibri"/>
              </a:rPr>
              <a:t> — move on to the next agenda item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551" y="4330749"/>
            <a:ext cx="4038362" cy="3475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1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FFFF"/>
                </a:solidFill>
                <a:latin typeface="Calibri"/>
              </a:rPr>
              <a:t>Status language accepted</a:t>
            </a:r>
            <a:r>
              <a:rPr sz="1008" b="0" i="0">
                <a:solidFill>
                  <a:srgbClr val="CCCCCC"/>
                </a:solidFill>
                <a:latin typeface="Calibri"/>
              </a:rPr>
              <a:t> — "seems happy" logged as engagement health</a:t>
            </a:r>
            <a:r>
              <a:rPr sz="1008" b="0" i="0">
                <a:solidFill>
                  <a:srgbClr val="CCCCCC"/>
                </a:solidFill>
                <a:latin typeface="Calibri"/>
              </a:rPr>
              <a:t> indicator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551" y="4968478"/>
            <a:ext cx="4201772" cy="233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1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FFFF"/>
                </a:solidFill>
                <a:latin typeface="Calibri"/>
              </a:rPr>
              <a:t>Missed learning opportunity</a:t>
            </a:r>
            <a:r>
              <a:rPr sz="1008" b="0" i="0">
                <a:solidFill>
                  <a:srgbClr val="CCCCCC"/>
                </a:solidFill>
                <a:latin typeface="Calibri"/>
              </a:rPr>
              <a:t> — team never develops signal observation skills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29350" y="1733550"/>
            <a:ext cx="5791200" cy="45624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4625" y="2051595"/>
            <a:ext cx="5200650" cy="504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15125" y="2165895"/>
            <a:ext cx="266700" cy="2667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15125" y="2828329"/>
            <a:ext cx="4819650" cy="3619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15125" y="3280469"/>
            <a:ext cx="4819650" cy="3619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15125" y="3732609"/>
            <a:ext cx="4819650" cy="5524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15125" y="4370337"/>
            <a:ext cx="4819650" cy="5524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15125" y="5038427"/>
            <a:ext cx="4819650" cy="6858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82375" y="2226766"/>
            <a:ext cx="152400" cy="152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73180" y="2953196"/>
            <a:ext cx="100012" cy="1143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73180" y="3405336"/>
            <a:ext cx="100012" cy="1143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73180" y="3857476"/>
            <a:ext cx="100012" cy="1143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73180" y="4495204"/>
            <a:ext cx="100012" cy="1143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4130" y="5160317"/>
            <a:ext cx="80069" cy="913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817965" y="2230635"/>
            <a:ext cx="6846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6200"/>
                </a:solidFill>
                <a:latin typeface="Calibri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03715" y="2213520"/>
            <a:ext cx="1855291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6200"/>
                </a:solidFill>
                <a:latin typeface="Calibri"/>
              </a:rPr>
              <a:t>Redirect to Signals — CORRECT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72163" y="2929235"/>
            <a:ext cx="3250896" cy="2291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1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FFFF"/>
                </a:solidFill>
                <a:latin typeface="Calibri"/>
              </a:rPr>
              <a:t>Name the pattern:</a:t>
            </a:r>
            <a:r>
              <a:rPr sz="1008" b="0" i="1">
                <a:solidFill>
                  <a:srgbClr val="CCCCCC"/>
                </a:solidFill>
                <a:latin typeface="Calibri"/>
              </a:rPr>
              <a:t> "That's status language — not a signal."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72163" y="3381375"/>
            <a:ext cx="3711541" cy="2429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1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FFFF"/>
                </a:solidFill>
                <a:latin typeface="Calibri"/>
              </a:rPr>
              <a:t>Redirect to three-stream model:</a:t>
            </a:r>
            <a:r>
              <a:rPr sz="1008" b="0" i="0">
                <a:solidFill>
                  <a:srgbClr val="CCCCCC"/>
                </a:solidFill>
                <a:latin typeface="Calibri"/>
              </a:rPr>
              <a:t> friction, clarity, and follow-through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72163" y="3833514"/>
            <a:ext cx="4181997" cy="3475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1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FFFF"/>
                </a:solidFill>
                <a:latin typeface="Calibri"/>
              </a:rPr>
              <a:t>Ask the signal question:</a:t>
            </a:r>
            <a:r>
              <a:rPr sz="1008" b="0" i="1">
                <a:solidFill>
                  <a:srgbClr val="CCCCCC"/>
                </a:solidFill>
                <a:latin typeface="Calibri"/>
              </a:rPr>
              <a:t> "What did the client do or say that you're reading as</a:t>
            </a:r>
            <a:r>
              <a:rPr sz="1008" b="0" i="1">
                <a:solidFill>
                  <a:srgbClr val="CCCCCC"/>
                </a:solidFill>
                <a:latin typeface="Calibri"/>
              </a:rPr>
              <a:t> positive?"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72163" y="4471243"/>
            <a:ext cx="4377446" cy="3475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1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FFFFF"/>
                </a:solidFill>
                <a:latin typeface="Calibri"/>
              </a:rPr>
              <a:t>Observable behavior only:</a:t>
            </a:r>
            <a:r>
              <a:rPr sz="1008" b="0" i="0">
                <a:solidFill>
                  <a:srgbClr val="CCCCCC"/>
                </a:solidFill>
                <a:latin typeface="Calibri"/>
              </a:rPr>
              <a:t> specific client actions = signals; general impressions =</a:t>
            </a:r>
            <a:r>
              <a:rPr sz="1008" b="0" i="0">
                <a:solidFill>
                  <a:srgbClr val="CCCCCC"/>
                </a:solidFill>
                <a:latin typeface="Calibri"/>
              </a:rPr>
              <a:t> 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79890" y="5141267"/>
            <a:ext cx="750837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FF6200"/>
                </a:solidFill>
                <a:latin typeface="Calibri"/>
              </a:rPr>
              <a:t>FACILITATOR SCRIPT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4130" y="5316438"/>
            <a:ext cx="4595165" cy="3092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FFFFFF"/>
                </a:solidFill>
                <a:latin typeface="Calibri"/>
              </a:rPr>
              <a:t>"What specific signals did you observe this week across the three streams — friction, clarity,</a:t>
            </a:r>
            <a:r>
              <a:rPr sz="936" b="0" i="1">
                <a:solidFill>
                  <a:srgbClr val="FFFFFF"/>
                </a:solidFill>
                <a:latin typeface="Calibri"/>
              </a:rPr>
              <a:t> and follow-through?"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18927" y="828526"/>
            <a:ext cx="38100" cy="381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06737" y="828526"/>
            <a:ext cx="38100" cy="381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24475" y="2226766"/>
            <a:ext cx="152400" cy="15240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5280" y="3450431"/>
            <a:ext cx="114300" cy="1143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5280" y="3902571"/>
            <a:ext cx="114300" cy="1143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5280" y="4354710"/>
            <a:ext cx="114300" cy="1143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5280" y="4992439"/>
            <a:ext cx="114300" cy="1143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