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4572000"/>
            <a:ext cx="2286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62000"/>
            <a:ext cx="1333500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962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78053"/>
            <a:ext cx="8123147" cy="624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Resistance Patterns &amp;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Facilitation Scripts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108"/>
            <a:ext cx="1973609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>
                    <a:alpha val="85000"/>
                  </a:srgbClr>
                </a:solidFill>
                <a:latin typeface="Calibri"/>
              </a:rPr>
              <a:t>EEP TRAINING DELIVERY GUIDE · SECTION 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215157"/>
            <a:ext cx="3733800" cy="1543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2367408"/>
            <a:ext cx="390525" cy="390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7635" y="3275855"/>
            <a:ext cx="2867025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116" y="2485429"/>
            <a:ext cx="139898" cy="1599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7635" y="2504293"/>
            <a:ext cx="1945630" cy="16824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FFFFFF"/>
                </a:solidFill>
                <a:latin typeface="Calibri"/>
              </a:rPr>
              <a:t>Standard Acceptance with 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7635" y="3331071"/>
            <a:ext cx="2845883" cy="374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↳ </a:t>
            </a:r>
            <a:r>
              <a:rPr sz="900" b="0" i="1">
                <a:solidFill>
                  <a:srgbClr val="FF6200"/>
                </a:solidFill>
                <a:latin typeface="Calibri"/>
              </a:rPr>
              <a:t>"What specifically makes this account different from the</a:t>
            </a:r>
            <a:r>
              <a:rPr sz="900" b="0" i="1">
                <a:solidFill>
                  <a:srgbClr val="FF6200"/>
                </a:solidFill>
                <a:latin typeface="Calibri"/>
              </a:rPr>
              <a:t> standard? Let's test that assumption against the model."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7635" y="2352685"/>
            <a:ext cx="46657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FF6200">
                    <a:alpha val="75000"/>
                  </a:srgbClr>
                </a:solidFill>
                <a:latin typeface="Calibri"/>
              </a:rPr>
              <a:t>PATTERN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7635" y="2726084"/>
            <a:ext cx="2642059" cy="5361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"I get the standard, but our account is different."</a:t>
            </a: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 Participant accepts the framework in principle while</a:t>
            </a: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 carving out their own exception.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33800" y="2209800"/>
            <a:ext cx="38100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100" y="2215157"/>
            <a:ext cx="3733800" cy="15430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0075" y="2367408"/>
            <a:ext cx="390525" cy="3905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5735" y="3275855"/>
            <a:ext cx="2867025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8216" y="2485429"/>
            <a:ext cx="139898" cy="1599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35735" y="2504293"/>
            <a:ext cx="1627435" cy="16824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FFFFFF"/>
                </a:solidFill>
                <a:latin typeface="Calibri"/>
              </a:rPr>
              <a:t>Status Drift in Signal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5735" y="3331071"/>
            <a:ext cx="2911646" cy="3496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↳ </a:t>
            </a:r>
            <a:r>
              <a:rPr sz="900" b="0" i="1">
                <a:solidFill>
                  <a:srgbClr val="FF6200"/>
                </a:solidFill>
                <a:latin typeface="Calibri"/>
              </a:rPr>
              <a:t>"That's status language. What specific client behavior did</a:t>
            </a:r>
            <a:r>
              <a:rPr sz="900" b="0" i="1">
                <a:solidFill>
                  <a:srgbClr val="FF6200"/>
                </a:solidFill>
                <a:latin typeface="Calibri"/>
              </a:rPr>
              <a:t> you observe this week — what did they do or say?"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5735" y="2352685"/>
            <a:ext cx="46657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FF6200">
                    <a:alpha val="75000"/>
                  </a:srgbClr>
                </a:solidFill>
                <a:latin typeface="Calibri"/>
              </a:rPr>
              <a:t>PATTERN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5735" y="2726084"/>
            <a:ext cx="2908635" cy="465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Senior participant reframes signal data through their own</a:t>
            </a: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 account experience, shifting the review from signals to</a:t>
            </a: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 status narrative.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1900" y="2209800"/>
            <a:ext cx="381000" cy="3810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2215157"/>
            <a:ext cx="3733800" cy="15430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8175" y="2367408"/>
            <a:ext cx="390525" cy="3905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3835" y="3275855"/>
            <a:ext cx="2867025" cy="3429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96287" y="2485429"/>
            <a:ext cx="119955" cy="15999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783835" y="2504293"/>
            <a:ext cx="1458664" cy="16824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FFFFFF"/>
                </a:solidFill>
                <a:latin typeface="Calibri"/>
              </a:rPr>
              <a:t>Outcome Owner as Label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3835" y="3331071"/>
            <a:ext cx="2933414" cy="3757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↳ </a:t>
            </a:r>
            <a:r>
              <a:rPr sz="900" b="0" i="1">
                <a:solidFill>
                  <a:srgbClr val="FF6200"/>
                </a:solidFill>
                <a:latin typeface="Calibri"/>
              </a:rPr>
              <a:t>"Ownership defines accountability, not the standard itself.</a:t>
            </a:r>
            <a:r>
              <a:rPr sz="900" b="0" i="1">
                <a:solidFill>
                  <a:srgbClr val="FF6200"/>
                </a:solidFill>
                <a:latin typeface="Calibri"/>
              </a:rPr>
              <a:t> The standard applies to how we deliver, not who decides."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3835" y="2352685"/>
            <a:ext cx="46657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FF6200">
                    <a:alpha val="75000"/>
                  </a:srgbClr>
                </a:solidFill>
                <a:latin typeface="Calibri"/>
              </a:rPr>
              <a:t>PATTERN 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83835" y="2726084"/>
            <a:ext cx="2934235" cy="463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Role authority is used to override the standard — "I'm the</a:t>
            </a: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 outcome owner, so I decide how this works on my</a:t>
            </a: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 account."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30000" y="2209800"/>
            <a:ext cx="381000" cy="3810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879502"/>
            <a:ext cx="3733800" cy="16954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4031753"/>
            <a:ext cx="390525" cy="3905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7635" y="4940200"/>
            <a:ext cx="2867025" cy="3429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052" y="4149774"/>
            <a:ext cx="199876" cy="15999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87635" y="4168638"/>
            <a:ext cx="1337220" cy="16824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FFFFFF"/>
                </a:solidFill>
                <a:latin typeface="Calibri"/>
              </a:rPr>
              <a:t>Blame in CEES Sessions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7635" y="4995416"/>
            <a:ext cx="2891565" cy="3391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↳ </a:t>
            </a:r>
            <a:r>
              <a:rPr sz="900" b="0" i="1">
                <a:solidFill>
                  <a:srgbClr val="FF6200"/>
                </a:solidFill>
                <a:latin typeface="Calibri"/>
              </a:rPr>
              <a:t>"We're not here to assign fault. What does this signal tell</a:t>
            </a:r>
            <a:r>
              <a:rPr sz="900" b="0" i="1">
                <a:solidFill>
                  <a:srgbClr val="FF6200"/>
                </a:solidFill>
                <a:latin typeface="Calibri"/>
              </a:rPr>
              <a:t> us about the system, and what do we adjust?"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7635" y="4017030"/>
            <a:ext cx="46657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FF6200">
                    <a:alpha val="75000"/>
                  </a:srgbClr>
                </a:solidFill>
                <a:latin typeface="Calibri"/>
              </a:rPr>
              <a:t>PATTERN 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7635" y="4390429"/>
            <a:ext cx="2944353" cy="4988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Attribution to a specific person's failure derails the session</a:t>
            </a: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— the team focuses on who caused the issue rather than</a:t>
            </a: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 what the signal reveals.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33800" y="3876675"/>
            <a:ext cx="381000" cy="3810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29100" y="3879502"/>
            <a:ext cx="3733800" cy="16954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0075" y="4031753"/>
            <a:ext cx="390525" cy="39052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35735" y="4940200"/>
            <a:ext cx="2867025" cy="4953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18124" y="4149774"/>
            <a:ext cx="179933" cy="15999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935735" y="4168638"/>
            <a:ext cx="617636" cy="16824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FFFFFF"/>
                </a:solidFill>
                <a:latin typeface="Calibri"/>
              </a:rPr>
              <a:t>Quiet Drift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5735" y="4995416"/>
            <a:ext cx="2980321" cy="4304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↳ </a:t>
            </a:r>
            <a:r>
              <a:rPr sz="900" b="0" i="1">
                <a:solidFill>
                  <a:srgbClr val="FF6200"/>
                </a:solidFill>
                <a:latin typeface="Calibri"/>
              </a:rPr>
              <a:t>"Let's check against the WGLL standard. What was the last</a:t>
            </a:r>
            <a:r>
              <a:rPr sz="900" b="0" i="1">
                <a:solidFill>
                  <a:srgbClr val="FF6200"/>
                </a:solidFill>
                <a:latin typeface="Calibri"/>
              </a:rPr>
              <a:t> concrete adjustment this team made based on a CEES</a:t>
            </a:r>
            <a:r>
              <a:rPr sz="900" b="0" i="1">
                <a:solidFill>
                  <a:srgbClr val="FF6200"/>
                </a:solidFill>
                <a:latin typeface="Calibri"/>
              </a:rPr>
              <a:t> session?"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5735" y="4017030"/>
            <a:ext cx="46657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FF6200">
                    <a:alpha val="75000"/>
                  </a:srgbClr>
                </a:solidFill>
                <a:latin typeface="Calibri"/>
              </a:rPr>
              <a:t>PATTERN 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5735" y="4390429"/>
            <a:ext cx="2713494" cy="541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No stated resistance, but the program atrophies in</a:t>
            </a: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 substance — sessions become shorter, shallower, and</a:t>
            </a: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 eventually stop producing real outputs.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1900" y="3876675"/>
            <a:ext cx="381000" cy="3810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7200" y="3879502"/>
            <a:ext cx="3733800" cy="169545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8175" y="4031753"/>
            <a:ext cx="390525" cy="39052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3835" y="4940200"/>
            <a:ext cx="2867025" cy="3429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76344" y="4149774"/>
            <a:ext cx="159841" cy="15999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783835" y="4168638"/>
            <a:ext cx="814089" cy="16824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FFFFFF"/>
                </a:solidFill>
                <a:latin typeface="Calibri"/>
              </a:rPr>
              <a:t>Not My Scope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83835" y="4995416"/>
            <a:ext cx="2994118" cy="3743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↳ </a:t>
            </a:r>
            <a:r>
              <a:rPr sz="900" b="0" i="1">
                <a:solidFill>
                  <a:srgbClr val="FF6200"/>
                </a:solidFill>
                <a:latin typeface="Calibri"/>
              </a:rPr>
              <a:t>"If they interact with the client or influence delivery</a:t>
            </a:r>
            <a:r>
              <a:rPr sz="900" b="0" i="1">
                <a:solidFill>
                  <a:srgbClr val="FF6200"/>
                </a:solidFill>
                <a:latin typeface="Calibri"/>
              </a:rPr>
              <a:t> outcomes, they're in scope. Scope is defined by client impact."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83835" y="4017030"/>
            <a:ext cx="46657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FF6200">
                    <a:alpha val="75000"/>
                  </a:srgbClr>
                </a:solidFill>
                <a:latin typeface="Calibri"/>
              </a:rPr>
              <a:t>PATTERN 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83835" y="4390429"/>
            <a:ext cx="3005670" cy="47473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Scope exclusion removes team members from the standard</a:t>
            </a: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— "That function isn't part of my workstream, so the</a:t>
            </a:r>
            <a:r>
              <a:rPr sz="936" b="0" i="0">
                <a:solidFill>
                  <a:srgbClr val="CCCCCC">
                    <a:alpha val="88000"/>
                  </a:srgbClr>
                </a:solidFill>
                <a:latin typeface="Calibri"/>
              </a:rPr>
              <a:t> standard doesn't apply to me."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30000" y="3876675"/>
            <a:ext cx="381000" cy="3810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