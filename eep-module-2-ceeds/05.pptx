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859" y="519410"/>
            <a:ext cx="9525" cy="3351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5193" y="519410"/>
            <a:ext cx="9525" cy="335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04698"/>
            <a:ext cx="5783312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The CEES Session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5571"/>
            <a:ext cx="409277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CCCC"/>
                </a:solidFill>
                <a:latin typeface="Calibri"/>
              </a:rPr>
              <a:t>CUSTOMER ENGAGEMENT EXCELLENCE SIMULATION · PRIMARY LEARNING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30940" y="465683"/>
            <a:ext cx="410319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898" y="626417"/>
            <a:ext cx="525733" cy="3695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45 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0178" y="465683"/>
            <a:ext cx="3664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CADENCE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7984" y="626417"/>
            <a:ext cx="656799" cy="4437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Bi-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 Weekly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5940" y="465683"/>
            <a:ext cx="398859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3318" y="626417"/>
            <a:ext cx="536157" cy="4227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All 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EEP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04875"/>
            <a:ext cx="4067175" cy="5953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123" y="1306413"/>
            <a:ext cx="552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1950" y="1609427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85" y="2676525"/>
            <a:ext cx="213270" cy="21327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85" y="3032819"/>
            <a:ext cx="213270" cy="21327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485" y="3472904"/>
            <a:ext cx="3219450" cy="4286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485" y="5987504"/>
            <a:ext cx="32194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760" y="1754237"/>
            <a:ext cx="167580" cy="16758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485" y="6111180"/>
            <a:ext cx="83790" cy="8379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485" y="6300787"/>
            <a:ext cx="83790" cy="837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485" y="1339750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>
                    <a:alpha val="50000"/>
                  </a:srgbClr>
                </a:solidFill>
                <a:latin typeface="Calibri"/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4323" y="1343322"/>
            <a:ext cx="40109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0 – 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9603" y="2146548"/>
            <a:ext cx="38189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9034" y="2392114"/>
            <a:ext cx="92288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Select &amp; Reconstruct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829" y="2724150"/>
            <a:ext cx="4643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FFFF">
                    <a:alpha val="60000"/>
                  </a:srgbClr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546" y="2668934"/>
            <a:ext cx="92556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Scenario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546" y="2824608"/>
            <a:ext cx="35331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0 –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829" y="3080444"/>
            <a:ext cx="4643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FFFF">
                    <a:alpha val="60000"/>
                  </a:srgbClr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546" y="3025229"/>
            <a:ext cx="76110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Reconstruction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546" y="3180903"/>
            <a:ext cx="40109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5 – 15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621" y="3587204"/>
            <a:ext cx="62344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Time 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9281" y="3558629"/>
            <a:ext cx="22577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4146" y="6088409"/>
            <a:ext cx="26289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Real scenarios from active engagements — not hypotheticals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146" y="6278016"/>
            <a:ext cx="306481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No-blame culture is a structural precondition for honest reconstruction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621" y="3796605"/>
            <a:ext cx="2971800" cy="38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621" y="3796605"/>
            <a:ext cx="983456" cy="38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52875" y="790575"/>
            <a:ext cx="4295775" cy="60674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5650" y="1306413"/>
            <a:ext cx="60007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7251" y="1609427"/>
            <a:ext cx="457200" cy="457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4786" y="2676525"/>
            <a:ext cx="213270" cy="21327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4786" y="3032819"/>
            <a:ext cx="213270" cy="21327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84786" y="3472904"/>
            <a:ext cx="3219450" cy="4286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84786" y="5699670"/>
            <a:ext cx="3219450" cy="7620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91076" y="1754237"/>
            <a:ext cx="209550" cy="16758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4786" y="5823346"/>
            <a:ext cx="94357" cy="8379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4786" y="6156870"/>
            <a:ext cx="94357" cy="837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484786" y="1339750"/>
            <a:ext cx="636537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PHASE 2 · 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1850" y="1343322"/>
            <a:ext cx="4490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15 – 40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166" y="2146548"/>
            <a:ext cx="86737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Core Practice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8416" y="2392114"/>
            <a:ext cx="85501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Contrast &amp; Capture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8130" y="2724150"/>
            <a:ext cx="4643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6200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81847" y="2668934"/>
            <a:ext cx="116755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Contrast with Standard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1847" y="2824608"/>
            <a:ext cx="4490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15 – 30 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8130" y="3080444"/>
            <a:ext cx="4643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6200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81847" y="3025229"/>
            <a:ext cx="76929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Lesson Capture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81847" y="3180903"/>
            <a:ext cx="4490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30 – 40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9922" y="3587204"/>
            <a:ext cx="62344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Time Allocation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4731" y="3558629"/>
            <a:ext cx="22577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Calibri"/>
              </a:rPr>
              <a:t>56%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0014" y="5800576"/>
            <a:ext cx="3125091" cy="2772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Calibrates judgment against the team standard — the program's core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0014" y="6134100"/>
            <a:ext cx="2925504" cy="2772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Teams sustaining this cadence show measurably faster judgment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 convergence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9922" y="3796605"/>
            <a:ext cx="2971800" cy="381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19922" y="3796605"/>
            <a:ext cx="1669107" cy="381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96225" y="904875"/>
            <a:ext cx="4067175" cy="595312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1099" y="1306413"/>
            <a:ext cx="600075" cy="1905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02700" y="1609427"/>
            <a:ext cx="457200" cy="4572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20236" y="2676525"/>
            <a:ext cx="213270" cy="21327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20236" y="3116609"/>
            <a:ext cx="3219450" cy="428625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20236" y="3623071"/>
            <a:ext cx="3219450" cy="3238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20236" y="5843587"/>
            <a:ext cx="3219450" cy="619125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47510" y="1754237"/>
            <a:ext cx="167580" cy="16758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20236" y="5967263"/>
            <a:ext cx="83790" cy="8379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20236" y="6156870"/>
            <a:ext cx="83790" cy="8379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320236" y="1339750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C4E00"/>
                </a:solidFill>
                <a:latin typeface="Calibri"/>
              </a:rPr>
              <a:t>PHASE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17299" y="1343322"/>
            <a:ext cx="4490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40 – 45 min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01361" y="2146548"/>
            <a:ext cx="460027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57159" y="2392114"/>
            <a:ext cx="54828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Practice Rep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03580" y="2724150"/>
            <a:ext cx="4643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CC4E00"/>
                </a:solidFill>
                <a:latin typeface="Calibri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17297" y="2668934"/>
            <a:ext cx="88716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Next Practice Rep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17297" y="2824608"/>
            <a:ext cx="4490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CCCCCC"/>
                </a:solidFill>
                <a:latin typeface="Calibri"/>
              </a:rPr>
              <a:t>40 – 45 min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5372" y="3230909"/>
            <a:ext cx="62344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Time Allocation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10180" y="3202334"/>
            <a:ext cx="22577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55372" y="3718321"/>
            <a:ext cx="6599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Program Priority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70752" y="3708796"/>
            <a:ext cx="13652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CC4E00"/>
                </a:solidFill>
                <a:latin typeface="Calibri"/>
              </a:rPr>
              <a:t>Most Important Investment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4897" y="5944492"/>
            <a:ext cx="284455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Locks in the lesson before the session ends — prevents regression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64897" y="6134100"/>
            <a:ext cx="2845025" cy="2772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CCCCCC"/>
                </a:solidFill>
                <a:latin typeface="Calibri"/>
              </a:rPr>
              <a:t>Lower variance in client experience outcomes when cadence is</a:t>
            </a:r>
            <a:r>
              <a:rPr sz="839" b="0" i="0">
                <a:solidFill>
                  <a:srgbClr val="CCCCCC"/>
                </a:solidFill>
                <a:latin typeface="Calibri"/>
              </a:rPr>
              <a:t> sustained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5372" y="3440310"/>
            <a:ext cx="2971800" cy="381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55372" y="3440310"/>
            <a:ext cx="327719" cy="381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0"/>
            <a:ext cx="4876800" cy="3810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17181" y="3808883"/>
            <a:ext cx="104775" cy="16758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952630" y="3808883"/>
            <a:ext cx="104775" cy="167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