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30480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72000"/>
            <a:ext cx="2286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83890"/>
            <a:ext cx="609600" cy="2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6227"/>
            <a:ext cx="4569356" cy="6088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Four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CEEDS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9615"/>
            <a:ext cx="293518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>
                    <a:alpha val="35000"/>
                  </a:srgbClr>
                </a:solidFill>
                <a:latin typeface="Calibri"/>
              </a:rPr>
              <a:t>EEP MODULE 2 · EXPLICIT TRADE-OFFS THE TEAM COMMITS 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86186"/>
            <a:ext cx="5553075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45" y="280704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345" y="2944117"/>
            <a:ext cx="228451" cy="1829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3826" y="2801391"/>
            <a:ext cx="97943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55000"/>
                  </a:srgbClr>
                </a:solidFill>
                <a:latin typeface="Calibri"/>
              </a:rPr>
              <a:t>PILLAR 1 ·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3826" y="3004458"/>
            <a:ext cx="3417837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Customer Experience Over Technical Perfection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3826" y="3299817"/>
            <a:ext cx="4664153" cy="4408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When clarity conflicts with elegance, choose what the client can understand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and act on — not what is technically impressive.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8775" y="2590800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42954" y="2676614"/>
            <a:ext cx="339774" cy="3352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6200">
                    <a:alpha val="8000"/>
                  </a:srgbClr>
                </a:solidFill>
                <a:latin typeface="Calibri"/>
              </a:rPr>
              <a:t>01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790" y="2586186"/>
            <a:ext cx="5553075" cy="1314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1635" y="2807047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8855" y="2944117"/>
            <a:ext cx="182760" cy="1829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6416" y="2801391"/>
            <a:ext cx="97943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55000"/>
                  </a:srgbClr>
                </a:solidFill>
                <a:latin typeface="Calibri"/>
              </a:rPr>
              <a:t>PILLAR 2 ·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6416" y="3004458"/>
            <a:ext cx="1719708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Clarity Over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6416" y="3299817"/>
            <a:ext cx="4619698" cy="4523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The measure of a communication is comprehension, not sophistication. If it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cannot be understood, it has not been communicated.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2590800"/>
            <a:ext cx="571500" cy="571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65544" y="2676614"/>
            <a:ext cx="339774" cy="3352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6200">
                    <a:alpha val="8000"/>
                  </a:srgbClr>
                </a:solidFill>
                <a:latin typeface="Calibri"/>
              </a:rPr>
              <a:t>02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73723"/>
            <a:ext cx="5553075" cy="1314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45" y="4294584"/>
            <a:ext cx="457200" cy="457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345" y="4431655"/>
            <a:ext cx="228451" cy="1829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23826" y="4288928"/>
            <a:ext cx="97943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55000"/>
                  </a:srgbClr>
                </a:solidFill>
                <a:latin typeface="Calibri"/>
              </a:rPr>
              <a:t>PILLAR 3 · TRADE-OFF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826" y="4491995"/>
            <a:ext cx="2301031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Ownership Without Boundaries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3826" y="4787354"/>
            <a:ext cx="4535693" cy="490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Ownership is volunteered, not assigned by default. Team members step in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before being asked rather than waiting for explicit direction.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8775" y="4076700"/>
            <a:ext cx="571500" cy="571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42954" y="4164151"/>
            <a:ext cx="339774" cy="3352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6200">
                    <a:alpha val="8000"/>
                  </a:srgbClr>
                </a:solidFill>
                <a:latin typeface="Calibri"/>
              </a:rPr>
              <a:t>03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790" y="4073723"/>
            <a:ext cx="5553075" cy="1314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1635" y="4294584"/>
            <a:ext cx="457200" cy="4572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8855" y="4431655"/>
            <a:ext cx="182760" cy="1829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46416" y="4288928"/>
            <a:ext cx="97943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55000"/>
                  </a:srgbClr>
                </a:solidFill>
                <a:latin typeface="Calibri"/>
              </a:rPr>
              <a:t>PILLAR 4 · 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6416" y="4491995"/>
            <a:ext cx="1442442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Signal Over Opinion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6416" y="4787354"/>
            <a:ext cx="4653882" cy="4310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Engagement health is assessed through observable indicators and evidence,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not individual intuition or subjective feeling.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4076700"/>
            <a:ext cx="571500" cy="571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265544" y="4164151"/>
            <a:ext cx="339774" cy="3352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6200">
                    <a:alpha val="8000"/>
                  </a:srgbClr>
                </a:solidFill>
                <a:latin typeface="Calibri"/>
              </a:rPr>
              <a:t>04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