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6000" y="4572000"/>
            <a:ext cx="2286000" cy="2286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308038"/>
            <a:ext cx="1381571" cy="15544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224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FF6200"/>
                </a:solidFill>
                <a:latin typeface="Calibri"/>
              </a:rPr>
              <a:t>EEP · MODULE 2 — CEEDS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19023"/>
            <a:ext cx="6702735" cy="54715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396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Module 2 Summary </a:t>
            </a:r>
            <a:r>
              <a:rPr sz="3600" b="1" i="0">
                <a:solidFill>
                  <a:srgbClr val="FF6200"/>
                </a:solidFill>
                <a:latin typeface="Calibri"/>
              </a:rPr>
              <a:t>&amp;</a:t>
            </a:r>
            <a:r>
              <a:rPr sz="3600" b="1" i="0">
                <a:solidFill>
                  <a:srgbClr val="FFFFFF"/>
                </a:solidFill>
                <a:latin typeface="Calibri"/>
              </a:rPr>
              <a:t> Next Steps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4972198"/>
            <a:ext cx="11277600" cy="6286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5754" y="5156894"/>
            <a:ext cx="9525" cy="2667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349930" y="5206454"/>
            <a:ext cx="146744" cy="1675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95325" y="5218921"/>
            <a:ext cx="428029" cy="14264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23"/>
              </a:lnSpc>
              <a:spcBef>
                <a:spcPts val="0"/>
              </a:spcBef>
              <a:spcAft>
                <a:spcPts val="0"/>
              </a:spcAft>
            </a:pPr>
            <a:r>
              <a:rPr sz="936" b="1" i="0">
                <a:solidFill>
                  <a:srgbClr val="FF6200"/>
                </a:solidFill>
                <a:latin typeface="Calibri"/>
              </a:rPr>
              <a:t>UP NEXT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37679" y="5111204"/>
            <a:ext cx="2510581" cy="1809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Module 3 — The CE Framework Applied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37679" y="5310598"/>
            <a:ext cx="4512766" cy="15544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224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CCCCCC"/>
                </a:solidFill>
                <a:latin typeface="Calibri"/>
              </a:rPr>
              <a:t>The Client Trust Architecture: moving from delivery excellence to strategic partnership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" y="2356246"/>
            <a:ext cx="5562600" cy="11715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6275" y="2523827"/>
            <a:ext cx="390525" cy="39052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5692" y="2634257"/>
            <a:ext cx="197197" cy="17531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224855" y="2518302"/>
            <a:ext cx="736550" cy="19202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FF6200"/>
                </a:solidFill>
                <a:latin typeface="Calibri"/>
              </a:rPr>
              <a:t>Four Pillars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24855" y="2763440"/>
            <a:ext cx="4538857" cy="5777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601"/>
              </a:lnSpc>
              <a:spcBef>
                <a:spcPts val="0"/>
              </a:spcBef>
              <a:spcAft>
                <a:spcPts val="0"/>
              </a:spcAft>
            </a:pPr>
            <a:r>
              <a:rPr sz="1104" b="0" i="0">
                <a:solidFill>
                  <a:srgbClr val="CCCCCC"/>
                </a:solidFill>
                <a:latin typeface="Calibri"/>
              </a:rPr>
              <a:t>Explicit trade-offs the team commits to — not aspirational values. Each pillar</a:t>
            </a:r>
            <a:r>
              <a:rPr sz="1104" b="0" i="0">
                <a:solidFill>
                  <a:srgbClr val="CCCCCC"/>
                </a:solidFill>
                <a:latin typeface="Calibri"/>
              </a:rPr>
              <a:t> defines a concrete behavioral standard the team holds itself to across every</a:t>
            </a:r>
            <a:r>
              <a:rPr sz="1104" b="0" i="0">
                <a:solidFill>
                  <a:srgbClr val="CCCCCC"/>
                </a:solidFill>
                <a:latin typeface="Calibri"/>
              </a:rPr>
              <a:t> engagement.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57825" y="2352675"/>
            <a:ext cx="571500" cy="11811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64460" y="2356246"/>
            <a:ext cx="5562600" cy="117157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83535" y="2523827"/>
            <a:ext cx="390525" cy="39052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93966" y="2634257"/>
            <a:ext cx="175170" cy="175319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932116" y="2518302"/>
            <a:ext cx="1554509" cy="19202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FF6200"/>
                </a:solidFill>
                <a:latin typeface="Calibri"/>
              </a:rPr>
              <a:t>Five Operating Motions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32116" y="2763440"/>
            <a:ext cx="4811259" cy="5777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601"/>
              </a:lnSpc>
              <a:spcBef>
                <a:spcPts val="0"/>
              </a:spcBef>
              <a:spcAft>
                <a:spcPts val="0"/>
              </a:spcAft>
            </a:pPr>
            <a:r>
              <a:rPr sz="1104" b="0" i="0">
                <a:solidFill>
                  <a:srgbClr val="CCCCCC"/>
                </a:solidFill>
                <a:latin typeface="Calibri"/>
              </a:rPr>
              <a:t>Recurring practice that translates pillar commitments into delivery. These are not</a:t>
            </a:r>
            <a:r>
              <a:rPr sz="1104" b="0" i="0">
                <a:solidFill>
                  <a:srgbClr val="CCCCCC"/>
                </a:solidFill>
                <a:latin typeface="Calibri"/>
              </a:rPr>
              <a:t> one-time events — they are the repeating cadence that keeps the program alive</a:t>
            </a:r>
            <a:r>
              <a:rPr sz="1104" b="0" i="0">
                <a:solidFill>
                  <a:srgbClr val="CCCCCC"/>
                </a:solidFill>
                <a:latin typeface="Calibri"/>
              </a:rPr>
              <a:t> in the team.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163300" y="2352675"/>
            <a:ext cx="571500" cy="11811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" y="3668017"/>
            <a:ext cx="5562600" cy="1171575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6275" y="3835598"/>
            <a:ext cx="390525" cy="390525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4827" y="3946028"/>
            <a:ext cx="219075" cy="175319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224855" y="3830073"/>
            <a:ext cx="909042" cy="19202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FF6200"/>
                </a:solidFill>
                <a:latin typeface="Calibri"/>
              </a:rPr>
              <a:t>CEES Sessions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24855" y="4075211"/>
            <a:ext cx="4732619" cy="5777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601"/>
              </a:lnSpc>
              <a:spcBef>
                <a:spcPts val="0"/>
              </a:spcBef>
              <a:spcAft>
                <a:spcPts val="0"/>
              </a:spcAft>
            </a:pPr>
            <a:r>
              <a:rPr sz="1104" b="0" i="0">
                <a:solidFill>
                  <a:srgbClr val="CCCCCC"/>
                </a:solidFill>
                <a:latin typeface="Calibri"/>
              </a:rPr>
              <a:t>Bi-weekly, 45-minute team learning sessions using real scenarios — the primary</a:t>
            </a:r>
            <a:r>
              <a:rPr sz="1104" b="0" i="0">
                <a:solidFill>
                  <a:srgbClr val="CCCCCC"/>
                </a:solidFill>
                <a:latin typeface="Calibri"/>
              </a:rPr>
              <a:t> mechanism for building judgment, calibrating standards, and reinforcing signal</a:t>
            </a:r>
            <a:r>
              <a:rPr sz="1104" b="0" i="0">
                <a:solidFill>
                  <a:srgbClr val="CCCCCC"/>
                </a:solidFill>
                <a:latin typeface="Calibri"/>
              </a:rPr>
              <a:t> language.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57825" y="3667125"/>
            <a:ext cx="571500" cy="1181100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64460" y="3668017"/>
            <a:ext cx="5562600" cy="1171575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83535" y="3835598"/>
            <a:ext cx="390525" cy="390525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72088" y="3946028"/>
            <a:ext cx="219075" cy="175319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932116" y="3830073"/>
            <a:ext cx="1058019" cy="19202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FF6200"/>
                </a:solidFill>
                <a:latin typeface="Calibri"/>
              </a:rPr>
              <a:t>Signal Language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32116" y="4075211"/>
            <a:ext cx="4586531" cy="5913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601"/>
              </a:lnSpc>
              <a:spcBef>
                <a:spcPts val="0"/>
              </a:spcBef>
              <a:spcAft>
                <a:spcPts val="0"/>
              </a:spcAft>
            </a:pPr>
            <a:r>
              <a:rPr sz="1104" b="0" i="0">
                <a:solidFill>
                  <a:srgbClr val="CCCCCC"/>
                </a:solidFill>
                <a:latin typeface="Calibri"/>
              </a:rPr>
              <a:t>The vocabulary of the program — observable client behaviors, not status</a:t>
            </a:r>
            <a:r>
              <a:rPr sz="1104" b="0" i="0">
                <a:solidFill>
                  <a:srgbClr val="CCCCCC"/>
                </a:solidFill>
                <a:latin typeface="Calibri"/>
              </a:rPr>
              <a:t> updates. "The client seems happy" is status. "The client asked three clarifying</a:t>
            </a:r>
            <a:r>
              <a:rPr sz="1104" b="0" i="0">
                <a:solidFill>
                  <a:srgbClr val="CCCCCC"/>
                </a:solidFill>
                <a:latin typeface="Calibri"/>
              </a:rPr>
              <a:t> questions" is a signal.</a:t>
            </a:r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163300" y="3667125"/>
            <a:ext cx="571500" cy="1181100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0" y="0"/>
            <a:ext cx="4267200" cy="381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