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4000500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4000500"/>
            <a:ext cx="3810000" cy="2857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23276" y="1726257"/>
            <a:ext cx="1597223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6200">
                    <a:alpha val="7000"/>
                  </a:srgbClr>
                </a:solidFill>
                <a:latin typeface="Calibri"/>
              </a:rPr>
              <a:t>CUSTOMER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547" y="2046237"/>
            <a:ext cx="1999952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6200">
                    <a:alpha val="7000"/>
                  </a:srgbClr>
                </a:solidFill>
                <a:latin typeface="Calibri"/>
              </a:rPr>
              <a:t>OVER TECHNICAL PERFECTION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1728" y="2686198"/>
            <a:ext cx="1838771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6200">
                    <a:alpha val="7000"/>
                  </a:srgbClr>
                </a:solidFill>
                <a:latin typeface="Calibri"/>
              </a:rPr>
              <a:t>CLARITY OVER 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6593" y="3326159"/>
            <a:ext cx="2443906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6200">
                    <a:alpha val="7000"/>
                  </a:srgbClr>
                </a:solidFill>
                <a:latin typeface="Calibri"/>
              </a:rPr>
              <a:t>OWNERSHIP WITHOUT BOUNDARIES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93523" y="3966120"/>
            <a:ext cx="1526976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6200">
                    <a:alpha val="7000"/>
                  </a:srgbClr>
                </a:solidFill>
                <a:latin typeface="Calibri"/>
              </a:rPr>
              <a:t>SIGNAL OVER OPINION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5108" y="4606081"/>
            <a:ext cx="985391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6200">
                    <a:alpha val="7000"/>
                  </a:srgbClr>
                </a:solidFill>
                <a:latin typeface="Calibri"/>
              </a:rPr>
              <a:t>CEES SESSIONS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54989" y="4926062"/>
            <a:ext cx="1465510" cy="2000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FF6200">
                    <a:alpha val="7000"/>
                  </a:srgbClr>
                </a:solidFill>
                <a:latin typeface="Calibri"/>
              </a:rPr>
              <a:t>OPERATING MOTIONS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64589" y="266700"/>
            <a:ext cx="733425" cy="23812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888414" y="314439"/>
            <a:ext cx="493960" cy="142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23"/>
              </a:lnSpc>
              <a:spcBef>
                <a:spcPts val="0"/>
              </a:spcBef>
              <a:spcAft>
                <a:spcPts val="0"/>
              </a:spcAft>
            </a:pPr>
            <a:r>
              <a:rPr sz="936" b="1" i="0">
                <a:solidFill>
                  <a:srgbClr val="FFFFFF">
                    <a:alpha val="45000"/>
                  </a:srgbClr>
                </a:solidFill>
                <a:latin typeface="Calibri"/>
              </a:rPr>
              <a:t>INTERNAL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800" y="1605706"/>
            <a:ext cx="76200" cy="76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" y="1920031"/>
            <a:ext cx="762000" cy="476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5800" y="3992909"/>
            <a:ext cx="5334000" cy="52595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76300" y="1558081"/>
            <a:ext cx="2694086" cy="1714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68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FF6200"/>
                </a:solidFill>
                <a:latin typeface="Calibri"/>
              </a:rPr>
              <a:t>ENGAGEMENT EXCELLENCE PROGRAM  ·  EEP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695557"/>
            <a:ext cx="2839640" cy="4206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effectLst>
                  <a:outerShdw blurRad="114300" dist="26940" dir="2700000" algn="ctr" rotWithShape="0">
                    <a:srgbClr val="000000">
                      <a:alpha val="40000"/>
                    </a:srgbClr>
                  </a:outerShdw>
                </a:effectLst>
                <a:latin typeface="Calibri"/>
              </a:rPr>
              <a:t>EEP MODULE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119422"/>
            <a:ext cx="1847998" cy="6236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5581"/>
              </a:lnSpc>
              <a:spcBef>
                <a:spcPts val="0"/>
              </a:spcBef>
              <a:spcAft>
                <a:spcPts val="0"/>
              </a:spcAft>
            </a:pPr>
            <a:r>
              <a:rPr sz="5580" b="1" i="0">
                <a:solidFill>
                  <a:srgbClr val="FF6200"/>
                </a:solidFill>
                <a:effectLst>
                  <a:outerShdw blurRad="381000" dist="0" dir="0" algn="ctr" rotWithShape="0">
                    <a:srgbClr val="FF6200">
                      <a:alpha val="25000"/>
                    </a:srgbClr>
                  </a:outerShdw>
                </a:effectLst>
                <a:latin typeface="Calibri"/>
              </a:rPr>
              <a:t>CEEDS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" y="4011959"/>
            <a:ext cx="3280618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CCCCCC"/>
                </a:solidFill>
                <a:latin typeface="Calibri"/>
              </a:rPr>
              <a:t>Client Engagement Excellence Delivery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350" y="4274939"/>
            <a:ext cx="4223295" cy="2190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CCCCCC"/>
                </a:solidFill>
                <a:latin typeface="Calibri"/>
              </a:rPr>
              <a:t>Facilitator &amp; Learner Guide  ·  The Team Operating Standard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7690" y="2196256"/>
            <a:ext cx="10877550" cy="2952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57250" y="2253406"/>
            <a:ext cx="1001464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MODULE 2 OF 4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" y="4823668"/>
            <a:ext cx="4791075" cy="47625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020341" y="4966543"/>
            <a:ext cx="9525" cy="1905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522315" y="4966543"/>
            <a:ext cx="9525" cy="1905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4875" y="4993183"/>
            <a:ext cx="137070" cy="137219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20366" y="4993183"/>
            <a:ext cx="154334" cy="137219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722340" y="4993183"/>
            <a:ext cx="171450" cy="13721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8145" y="4971305"/>
            <a:ext cx="711696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E0E0"/>
                </a:solidFill>
                <a:latin typeface="Calibri"/>
              </a:rPr>
              <a:t>90 Minutes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50901" y="4971305"/>
            <a:ext cx="880913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E0E0"/>
                </a:solidFill>
                <a:latin typeface="Calibri"/>
              </a:rPr>
              <a:t>Module 2 of 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69990" y="4971305"/>
            <a:ext cx="1289298" cy="1809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0E0E0"/>
                </a:solidFill>
                <a:latin typeface="Calibri"/>
              </a:rPr>
              <a:t>Facilitator &amp; Learner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50250" y="6440119"/>
            <a:ext cx="2355949" cy="14996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1181"/>
              </a:lnSpc>
              <a:spcBef>
                <a:spcPts val="0"/>
              </a:spcBef>
              <a:spcAft>
                <a:spcPts val="0"/>
              </a:spcAft>
            </a:pPr>
            <a:r>
              <a:rPr sz="984" b="0" i="0">
                <a:solidFill>
                  <a:srgbClr val="FFFFFF"/>
                </a:solidFill>
                <a:latin typeface="Calibri"/>
              </a:rPr>
              <a:t>AUTHOR: MIKE GARCIA  ·  AVANADE INTERNAL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4267200" cy="381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6800850"/>
            <a:ext cx="3657600" cy="571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57600" y="6800850"/>
            <a:ext cx="1219200" cy="571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876800" y="6800850"/>
            <a:ext cx="1219200" cy="571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0" y="6800850"/>
            <a:ext cx="6096000" cy="57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