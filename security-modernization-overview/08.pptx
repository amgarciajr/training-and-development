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129" y="318789"/>
            <a:ext cx="942975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560" y="209270"/>
            <a:ext cx="9114532" cy="4937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latin typeface="Calibri"/>
              </a:rPr>
              <a:t>Framework Summary — Identity-First Zero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5529" y="381595"/>
            <a:ext cx="64650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924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390900"/>
            <a:ext cx="2981325" cy="2266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4225" y="3390900"/>
            <a:ext cx="2981325" cy="2266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6450" y="3390900"/>
            <a:ext cx="2981325" cy="2266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48675" y="3390900"/>
            <a:ext cx="2981325" cy="22669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12131" y="4175879"/>
            <a:ext cx="881062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F6200"/>
                </a:solidFill>
                <a:latin typeface="Calibri"/>
              </a:rPr>
              <a:t>90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6868" y="4497421"/>
            <a:ext cx="1271438" cy="1664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FFFFFF"/>
                </a:solidFill>
                <a:latin typeface="Calibri"/>
              </a:rPr>
              <a:t>MEASURABLE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2401" y="4731692"/>
            <a:ext cx="1920313" cy="3783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1D5DB"/>
                </a:solidFill>
                <a:latin typeface="Calibri"/>
              </a:rPr>
              <a:t>Maximum risk reduction per dollar</a:t>
            </a:r>
            <a:r>
              <a:rPr sz="1008" b="0" i="0">
                <a:solidFill>
                  <a:srgbClr val="D1D5DB"/>
                </a:solidFill>
                <a:latin typeface="Calibri"/>
              </a:rPr>
              <a:t> invested in the first quarter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005" y="4175879"/>
            <a:ext cx="1439614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D4ED8"/>
                </a:solidFill>
                <a:latin typeface="Calibri"/>
              </a:rPr>
              <a:t>Identity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0100" y="4497421"/>
            <a:ext cx="1349424" cy="1664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FFFFFF"/>
                </a:solidFill>
                <a:latin typeface="Calibri"/>
              </a:rPr>
              <a:t>ZERO TRUST 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4135" y="4731692"/>
            <a:ext cx="1674124" cy="3779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1D5DB"/>
                </a:solidFill>
                <a:latin typeface="Calibri"/>
              </a:rPr>
              <a:t>Identity </a:t>
            </a:r>
            <a:r>
              <a:rPr sz="1008" b="0" i="0">
                <a:solidFill>
                  <a:srgbClr val="D1D5DB"/>
                </a:solidFill>
                <a:latin typeface="Cambria Math"/>
              </a:rPr>
              <a:t>→ </a:t>
            </a:r>
            <a:r>
              <a:rPr sz="1008" b="0" i="0">
                <a:solidFill>
                  <a:srgbClr val="D1D5DB"/>
                </a:solidFill>
                <a:latin typeface="Calibri"/>
              </a:rPr>
              <a:t>Data Protection </a:t>
            </a:r>
            <a:r>
              <a:rPr sz="1008" b="0" i="0">
                <a:solidFill>
                  <a:srgbClr val="D1D5DB"/>
                </a:solidFill>
                <a:latin typeface="Cambria Math"/>
              </a:rPr>
              <a:t>→</a:t>
            </a:r>
            <a:r>
              <a:rPr sz="1008" b="0" i="0">
                <a:solidFill>
                  <a:srgbClr val="D1D5DB"/>
                </a:solidFill>
                <a:latin typeface="Calibri"/>
              </a:rPr>
              <a:t>Governance </a:t>
            </a:r>
            <a:r>
              <a:rPr sz="1008" b="0" i="0">
                <a:solidFill>
                  <a:srgbClr val="D1D5DB"/>
                </a:solidFill>
                <a:latin typeface="Cambria Math"/>
              </a:rPr>
              <a:t>→ </a:t>
            </a:r>
            <a:r>
              <a:rPr sz="1008" b="0" i="0">
                <a:solidFill>
                  <a:srgbClr val="D1D5DB"/>
                </a:solidFill>
                <a:latin typeface="Calibri"/>
              </a:rPr>
              <a:t>AI Enablement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2351" y="4175879"/>
            <a:ext cx="1889373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0B981"/>
                </a:solidFill>
                <a:latin typeface="Calibri"/>
              </a:rPr>
              <a:t>Breach Exposure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1185" y="4497421"/>
            <a:ext cx="551705" cy="1664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FFFFFF"/>
                </a:solidFill>
                <a:latin typeface="Calibri"/>
              </a:rPr>
              <a:t>REDUCED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635" y="4731692"/>
            <a:ext cx="1850871" cy="3735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1D5DB"/>
                </a:solidFill>
                <a:latin typeface="Calibri"/>
              </a:rPr>
              <a:t>Targets the root cause of 80%+ of</a:t>
            </a:r>
            <a:r>
              <a:rPr sz="1008" b="0" i="0">
                <a:solidFill>
                  <a:srgbClr val="D1D5DB"/>
                </a:solidFill>
                <a:latin typeface="Calibri"/>
              </a:rPr>
              <a:t> credential-based incidents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7071" y="4092684"/>
            <a:ext cx="1024383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8B5CF6"/>
                </a:solidFill>
                <a:latin typeface="Calibri"/>
              </a:rPr>
              <a:t>AI-Ready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746" y="4414226"/>
            <a:ext cx="1361033" cy="1664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FFFFFF"/>
                </a:solidFill>
                <a:latin typeface="Calibri"/>
              </a:rPr>
              <a:t>GOVERNANCE IN 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7610" y="4648497"/>
            <a:ext cx="2046933" cy="4947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1D5DB"/>
                </a:solidFill>
                <a:latin typeface="Calibri"/>
              </a:rPr>
              <a:t>Copilot-ready environment with</a:t>
            </a:r>
            <a:r>
              <a:rPr sz="1008" b="0" i="0">
                <a:solidFill>
                  <a:srgbClr val="D1D5DB"/>
                </a:solidFill>
                <a:latin typeface="Calibri"/>
              </a:rPr>
              <a:t> labeling, DLP &amp; governance before AI</a:t>
            </a:r>
            <a:r>
              <a:rPr sz="1008" b="0" i="0">
                <a:solidFill>
                  <a:srgbClr val="D1D5DB"/>
                </a:solidFill>
                <a:latin typeface="Calibri"/>
              </a:rPr>
              <a:t>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18866" y="1843533"/>
            <a:ext cx="8362272" cy="120312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sz="2592" b="1" i="1">
                <a:solidFill>
                  <a:srgbClr val="FFFFFF"/>
                </a:solidFill>
                <a:latin typeface="Calibri"/>
              </a:rPr>
              <a:t>Identity-first sequencing ensures </a:t>
            </a:r>
            <a:r>
              <a:rPr sz="2592" b="1" i="1">
                <a:solidFill>
                  <a:srgbClr val="FF6200"/>
                </a:solidFill>
                <a:latin typeface="Calibri"/>
              </a:rPr>
              <a:t>every layer reinforces the</a:t>
            </a:r>
            <a:r>
              <a:rPr sz="2592" b="1" i="1">
                <a:solidFill>
                  <a:srgbClr val="FF6200"/>
                </a:solidFill>
                <a:latin typeface="Calibri"/>
              </a:rPr>
              <a:t> one beneath it</a:t>
            </a:r>
            <a:r>
              <a:rPr sz="2592" b="1" i="1">
                <a:solidFill>
                  <a:srgbClr val="FFFFFF"/>
                </a:solidFill>
                <a:latin typeface="Calibri"/>
              </a:rPr>
              <a:t> — risk is reduced from day one, not</a:t>
            </a:r>
            <a:r>
              <a:rPr sz="2592" b="1" i="1">
                <a:solidFill>
                  <a:srgbClr val="FFFFFF"/>
                </a:solidFill>
                <a:latin typeface="Calibri"/>
              </a:rPr>
              <a:t> deferred.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0329" y="3181498"/>
            <a:ext cx="5011340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D1D5DB"/>
                </a:solidFill>
                <a:latin typeface="Calibri"/>
              </a:rPr>
              <a:t>Security Modernization Implementation Framework  ·  Mike Garcia  ·  Version 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9250" y="1579810"/>
            <a:ext cx="405854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201"/>
              </a:lnSpc>
              <a:spcBef>
                <a:spcPts val="0"/>
              </a:spcBef>
              <a:spcAft>
                <a:spcPts val="0"/>
              </a:spcAft>
            </a:pPr>
            <a:r>
              <a:rPr sz="7200" b="0" i="0">
                <a:solidFill>
                  <a:srgbClr val="FF6200">
                    <a:alpha val="14000"/>
                  </a:srgbClr>
                </a:solidFill>
                <a:latin typeface="Georgia"/>
              </a:rPr>
              <a:t>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66895" y="2732633"/>
            <a:ext cx="405854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201"/>
              </a:lnSpc>
              <a:spcBef>
                <a:spcPts val="0"/>
              </a:spcBef>
              <a:spcAft>
                <a:spcPts val="0"/>
              </a:spcAft>
            </a:pPr>
            <a:r>
              <a:rPr sz="7200" b="0" i="0">
                <a:solidFill>
                  <a:srgbClr val="FF6200">
                    <a:alpha val="14000"/>
                  </a:srgbClr>
                </a:solidFill>
                <a:latin typeface="Georgia"/>
              </a:rPr>
              <a:t>”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65895" y="3925490"/>
            <a:ext cx="173384" cy="19809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3415" y="3925490"/>
            <a:ext cx="222944" cy="19809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77992" y="3925490"/>
            <a:ext cx="198090" cy="19809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15512" y="3842295"/>
            <a:ext cx="247650" cy="19809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075533" y="5501878"/>
            <a:ext cx="1502717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D1D5DB"/>
                </a:solidFill>
                <a:latin typeface="Calibri"/>
              </a:rPr>
              <a:t>Developed by Mike Garcia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9225" y="5501878"/>
            <a:ext cx="2779365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D1D5DB"/>
                </a:solidFill>
                <a:latin typeface="Calibri"/>
              </a:rPr>
              <a:t>Based on real-world enterprise delivery patterns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9566" y="5501878"/>
            <a:ext cx="639216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D1D5DB"/>
                </a:solidFill>
                <a:latin typeface="Calibri"/>
              </a:rPr>
              <a:t>Version 1.0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9757" y="5501878"/>
            <a:ext cx="576708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D1D5DB"/>
                </a:solidFill>
                <a:latin typeface="Calibri"/>
              </a:rPr>
              <a:t>June 2026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54450" y="5582096"/>
            <a:ext cx="28575" cy="285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14791" y="5582096"/>
            <a:ext cx="28575" cy="285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34982" y="5582096"/>
            <a:ext cx="28575" cy="285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