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0"/>
            <a:ext cx="2667000" cy="2667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762500"/>
            <a:ext cx="2095500" cy="20955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2000" cy="381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883890"/>
            <a:ext cx="571500" cy="285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296227"/>
            <a:ext cx="6214496" cy="59014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396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FFFFFF"/>
                </a:solidFill>
                <a:latin typeface="Calibri"/>
              </a:rPr>
              <a:t>Three Pillars — </a:t>
            </a:r>
            <a:r>
              <a:rPr sz="3600" b="1" i="0">
                <a:solidFill>
                  <a:srgbClr val="FF6200"/>
                </a:solidFill>
                <a:latin typeface="Calibri"/>
              </a:rPr>
              <a:t>What We Build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" y="2594669"/>
            <a:ext cx="3629025" cy="25336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9995" y="2817465"/>
            <a:ext cx="457200" cy="4572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9995" y="3796307"/>
            <a:ext cx="47625" cy="476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9995" y="4043362"/>
            <a:ext cx="47625" cy="476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9995" y="4290417"/>
            <a:ext cx="47625" cy="476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9995" y="4537471"/>
            <a:ext cx="47625" cy="4762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9995" y="4784526"/>
            <a:ext cx="47625" cy="4762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9985" y="2954535"/>
            <a:ext cx="137070" cy="182909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79995" y="3408527"/>
            <a:ext cx="1250900" cy="21031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656"/>
              </a:lnSpc>
              <a:spcBef>
                <a:spcPts val="0"/>
              </a:spcBef>
              <a:spcAft>
                <a:spcPts val="0"/>
              </a:spcAft>
            </a:pPr>
            <a:r>
              <a:rPr sz="1380" b="1" i="0">
                <a:solidFill>
                  <a:srgbClr val="FF8A40"/>
                </a:solidFill>
                <a:latin typeface="Calibri"/>
              </a:rPr>
              <a:t>Identity &amp; Access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3820" y="3737520"/>
            <a:ext cx="1763017" cy="1714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490"/>
              </a:lnSpc>
              <a:spcBef>
                <a:spcPts val="0"/>
              </a:spcBef>
              <a:spcAft>
                <a:spcPts val="0"/>
              </a:spcAft>
            </a:pPr>
            <a:r>
              <a:rPr sz="1104" b="0" i="0">
                <a:solidFill>
                  <a:srgbClr val="D1D5DB"/>
                </a:solidFill>
                <a:latin typeface="Calibri"/>
              </a:rPr>
              <a:t>Entra ID governance &amp; lifecycle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3820" y="3984575"/>
            <a:ext cx="1786681" cy="1714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490"/>
              </a:lnSpc>
              <a:spcBef>
                <a:spcPts val="0"/>
              </a:spcBef>
              <a:spcAft>
                <a:spcPts val="0"/>
              </a:spcAft>
            </a:pPr>
            <a:r>
              <a:rPr sz="1104" b="0" i="0">
                <a:solidFill>
                  <a:srgbClr val="D1D5DB"/>
                </a:solidFill>
                <a:latin typeface="Calibri"/>
              </a:rPr>
              <a:t>Conditional Access architecture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3820" y="4231630"/>
            <a:ext cx="2031206" cy="1714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490"/>
              </a:lnSpc>
              <a:spcBef>
                <a:spcPts val="0"/>
              </a:spcBef>
              <a:spcAft>
                <a:spcPts val="0"/>
              </a:spcAft>
            </a:pPr>
            <a:r>
              <a:rPr sz="1104" b="0" i="0">
                <a:solidFill>
                  <a:srgbClr val="D1D5DB"/>
                </a:solidFill>
                <a:latin typeface="Calibri"/>
              </a:rPr>
              <a:t>Phishing-resistant MFA (FIDO2/TAP)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3820" y="4478684"/>
            <a:ext cx="2170062" cy="1714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490"/>
              </a:lnSpc>
              <a:spcBef>
                <a:spcPts val="0"/>
              </a:spcBef>
              <a:spcAft>
                <a:spcPts val="0"/>
              </a:spcAft>
            </a:pPr>
            <a:r>
              <a:rPr sz="1104" b="0" i="0">
                <a:solidFill>
                  <a:srgbClr val="D1D5DB"/>
                </a:solidFill>
                <a:latin typeface="Calibri"/>
              </a:rPr>
              <a:t>Privileged Identity Management (PIM)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3820" y="4725739"/>
            <a:ext cx="1687562" cy="1714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490"/>
              </a:lnSpc>
              <a:spcBef>
                <a:spcPts val="0"/>
              </a:spcBef>
              <a:spcAft>
                <a:spcPts val="0"/>
              </a:spcAft>
            </a:pPr>
            <a:r>
              <a:rPr sz="1104" b="0" i="0">
                <a:solidFill>
                  <a:srgbClr val="D1D5DB"/>
                </a:solidFill>
                <a:latin typeface="Calibri"/>
              </a:rPr>
              <a:t>Zero Trust access architecture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66725" y="2609850"/>
            <a:ext cx="3609975" cy="28575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3541216" y="2728912"/>
            <a:ext cx="386208" cy="381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>
                    <a:alpha val="4000"/>
                  </a:srgbClr>
                </a:solidFill>
                <a:latin typeface="Calibri"/>
              </a:rPr>
              <a:t>01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79850" y="2594669"/>
            <a:ext cx="3629025" cy="253365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502646" y="2817465"/>
            <a:ext cx="457200" cy="45720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02646" y="3796307"/>
            <a:ext cx="47625" cy="47625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02646" y="4043362"/>
            <a:ext cx="47625" cy="47625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02646" y="4290417"/>
            <a:ext cx="47625" cy="47625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02646" y="4537471"/>
            <a:ext cx="47625" cy="47625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02646" y="4784526"/>
            <a:ext cx="47625" cy="47625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639865" y="2954535"/>
            <a:ext cx="182760" cy="182909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4502646" y="3408527"/>
            <a:ext cx="1138832" cy="21031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656"/>
              </a:lnSpc>
              <a:spcBef>
                <a:spcPts val="0"/>
              </a:spcBef>
              <a:spcAft>
                <a:spcPts val="0"/>
              </a:spcAft>
            </a:pPr>
            <a:r>
              <a:rPr sz="1380" b="1" i="0">
                <a:solidFill>
                  <a:srgbClr val="60A5FA"/>
                </a:solidFill>
                <a:latin typeface="Calibri"/>
              </a:rPr>
              <a:t>Data Protection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26471" y="3737520"/>
            <a:ext cx="1651545" cy="1714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490"/>
              </a:lnSpc>
              <a:spcBef>
                <a:spcPts val="0"/>
              </a:spcBef>
              <a:spcAft>
                <a:spcPts val="0"/>
              </a:spcAft>
            </a:pPr>
            <a:r>
              <a:rPr sz="1104" b="0" i="0">
                <a:solidFill>
                  <a:srgbClr val="D1D5DB"/>
                </a:solidFill>
                <a:latin typeface="Calibri"/>
              </a:rPr>
              <a:t>Sensitivity labeling taxonomy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26471" y="3984575"/>
            <a:ext cx="1752897" cy="1714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490"/>
              </a:lnSpc>
              <a:spcBef>
                <a:spcPts val="0"/>
              </a:spcBef>
              <a:spcAft>
                <a:spcPts val="0"/>
              </a:spcAft>
            </a:pPr>
            <a:r>
              <a:rPr sz="1104" b="0" i="0">
                <a:solidFill>
                  <a:srgbClr val="D1D5DB"/>
                </a:solidFill>
                <a:latin typeface="Calibri"/>
              </a:rPr>
              <a:t>DLP across all M365 workloads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26471" y="4231630"/>
            <a:ext cx="1442144" cy="1714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490"/>
              </a:lnSpc>
              <a:spcBef>
                <a:spcPts val="0"/>
              </a:spcBef>
              <a:spcAft>
                <a:spcPts val="0"/>
              </a:spcAft>
            </a:pPr>
            <a:r>
              <a:rPr sz="1104" b="0" i="0">
                <a:solidFill>
                  <a:srgbClr val="D1D5DB"/>
                </a:solidFill>
                <a:latin typeface="Calibri"/>
              </a:rPr>
              <a:t>Insider Risk Management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26471" y="4478684"/>
            <a:ext cx="1193750" cy="1714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490"/>
              </a:lnSpc>
              <a:spcBef>
                <a:spcPts val="0"/>
              </a:spcBef>
              <a:spcAft>
                <a:spcPts val="0"/>
              </a:spcAft>
            </a:pPr>
            <a:r>
              <a:rPr sz="1104" b="0" i="0">
                <a:solidFill>
                  <a:srgbClr val="D1D5DB"/>
                </a:solidFill>
                <a:latin typeface="Calibri"/>
              </a:rPr>
              <a:t>eDiscovery readiness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26471" y="4725739"/>
            <a:ext cx="1129754" cy="1714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490"/>
              </a:lnSpc>
              <a:spcBef>
                <a:spcPts val="0"/>
              </a:spcBef>
              <a:spcAft>
                <a:spcPts val="0"/>
              </a:spcAft>
            </a:pPr>
            <a:r>
              <a:rPr sz="1104" b="0" i="0">
                <a:solidFill>
                  <a:srgbClr val="D1D5DB"/>
                </a:solidFill>
                <a:latin typeface="Calibri"/>
              </a:rPr>
              <a:t>Adaptive Protection</a:t>
            </a:r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286250" y="2609850"/>
            <a:ext cx="3609975" cy="28575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7363866" y="2728912"/>
            <a:ext cx="386208" cy="381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>
                    <a:alpha val="4000"/>
                  </a:srgbClr>
                </a:solidFill>
                <a:latin typeface="Calibri"/>
              </a:rPr>
              <a:t>02</a:t>
            </a:r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02500" y="2594669"/>
            <a:ext cx="3629025" cy="2533650"/>
          </a:xfrm>
          <a:prstGeom prst="rect">
            <a:avLst/>
          </a:prstGeom>
        </p:spPr>
      </p:pic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325296" y="2817465"/>
            <a:ext cx="457200" cy="457200"/>
          </a:xfrm>
          <a:prstGeom prst="rect">
            <a:avLst/>
          </a:prstGeom>
        </p:spPr>
      </p:pic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325296" y="3796307"/>
            <a:ext cx="47625" cy="47625"/>
          </a:xfrm>
          <a:prstGeom prst="rect">
            <a:avLst/>
          </a:prstGeom>
        </p:spPr>
      </p:pic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325296" y="4043362"/>
            <a:ext cx="47625" cy="47625"/>
          </a:xfrm>
          <a:prstGeom prst="rect">
            <a:avLst/>
          </a:prstGeom>
        </p:spPr>
      </p:pic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325296" y="4290417"/>
            <a:ext cx="47625" cy="47625"/>
          </a:xfrm>
          <a:prstGeom prst="rect">
            <a:avLst/>
          </a:prstGeom>
        </p:spPr>
      </p:pic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325296" y="4537471"/>
            <a:ext cx="47625" cy="47625"/>
          </a:xfrm>
          <a:prstGeom prst="rect">
            <a:avLst/>
          </a:prstGeom>
        </p:spPr>
      </p:pic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325296" y="4784526"/>
            <a:ext cx="47625" cy="47625"/>
          </a:xfrm>
          <a:prstGeom prst="rect">
            <a:avLst/>
          </a:prstGeom>
        </p:spPr>
      </p:pic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439596" y="2954535"/>
            <a:ext cx="228451" cy="182909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8325296" y="3408527"/>
            <a:ext cx="1802457" cy="21031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656"/>
              </a:lnSpc>
              <a:spcBef>
                <a:spcPts val="0"/>
              </a:spcBef>
              <a:spcAft>
                <a:spcPts val="0"/>
              </a:spcAft>
            </a:pPr>
            <a:r>
              <a:rPr sz="1380" b="1" i="0">
                <a:solidFill>
                  <a:srgbClr val="FFA060"/>
                </a:solidFill>
                <a:latin typeface="Calibri"/>
              </a:rPr>
              <a:t>Governance &amp; Resilience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49121" y="3737520"/>
            <a:ext cx="1815554" cy="1714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490"/>
              </a:lnSpc>
              <a:spcBef>
                <a:spcPts val="0"/>
              </a:spcBef>
              <a:spcAft>
                <a:spcPts val="0"/>
              </a:spcAft>
            </a:pPr>
            <a:r>
              <a:rPr sz="1104" b="0" i="0">
                <a:solidFill>
                  <a:srgbClr val="D1D5DB"/>
                </a:solidFill>
                <a:latin typeface="Calibri"/>
              </a:rPr>
              <a:t>Compliance Manager alignment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49121" y="3984575"/>
            <a:ext cx="1444823" cy="1714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490"/>
              </a:lnSpc>
              <a:spcBef>
                <a:spcPts val="0"/>
              </a:spcBef>
              <a:spcAft>
                <a:spcPts val="0"/>
              </a:spcAft>
            </a:pPr>
            <a:r>
              <a:rPr sz="1104" b="0" i="0">
                <a:solidFill>
                  <a:srgbClr val="D1D5DB"/>
                </a:solidFill>
                <a:latin typeface="Calibri"/>
              </a:rPr>
              <a:t>NIST/CIS control mapping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449121" y="4231630"/>
            <a:ext cx="1615678" cy="1714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490"/>
              </a:lnSpc>
              <a:spcBef>
                <a:spcPts val="0"/>
              </a:spcBef>
              <a:spcAft>
                <a:spcPts val="0"/>
              </a:spcAft>
            </a:pPr>
            <a:r>
              <a:rPr sz="1104" b="0" i="0">
                <a:solidFill>
                  <a:srgbClr val="D1D5DB"/>
                </a:solidFill>
                <a:latin typeface="Calibri"/>
              </a:rPr>
              <a:t>Access Reviews (automated)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449121" y="4478684"/>
            <a:ext cx="1842641" cy="1714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490"/>
              </a:lnSpc>
              <a:spcBef>
                <a:spcPts val="0"/>
              </a:spcBef>
              <a:spcAft>
                <a:spcPts val="0"/>
              </a:spcAft>
            </a:pPr>
            <a:r>
              <a:rPr sz="1104" b="0" i="0">
                <a:solidFill>
                  <a:srgbClr val="D1D5DB"/>
                </a:solidFill>
                <a:latin typeface="Calibri"/>
              </a:rPr>
              <a:t>SOC integration &amp; Defender XDR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449121" y="4725739"/>
            <a:ext cx="1464766" cy="1714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490"/>
              </a:lnSpc>
              <a:spcBef>
                <a:spcPts val="0"/>
              </a:spcBef>
              <a:spcAft>
                <a:spcPts val="0"/>
              </a:spcAft>
            </a:pPr>
            <a:r>
              <a:rPr sz="1104" b="0" i="0">
                <a:solidFill>
                  <a:srgbClr val="D1D5DB"/>
                </a:solidFill>
                <a:latin typeface="Calibri"/>
              </a:rPr>
              <a:t>AI governance framework</a:t>
            </a:r>
          </a:p>
        </p:txBody>
      </p:sp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115300" y="2609850"/>
            <a:ext cx="3619500" cy="28575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11186666" y="2728912"/>
            <a:ext cx="386208" cy="381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>
                    <a:alpha val="4000"/>
                  </a:srgbClr>
                </a:solidFill>
                <a:latin typeface="Calibri"/>
              </a:rPr>
              <a:t>03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