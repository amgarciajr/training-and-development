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7580"/>
            <a:ext cx="16573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952202"/>
            <a:ext cx="11430000" cy="28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495" y="219223"/>
            <a:ext cx="109686" cy="10968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040159"/>
            <a:ext cx="109388" cy="1250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052" y="208304"/>
            <a:ext cx="1273373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EF4444"/>
                </a:solidFill>
                <a:latin typeface="Calibri"/>
              </a:rPr>
              <a:t>FIELD GUIDE — SECTION 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14039"/>
            <a:ext cx="6061970" cy="5499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Immediate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Escalation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259" y="1027686"/>
            <a:ext cx="4378523" cy="1499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EF4444"/>
                </a:solidFill>
                <a:latin typeface="Calibri"/>
              </a:rPr>
              <a:t>Escalate to the CISO the same day you find these — not next week, not in the report.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615654"/>
            <a:ext cx="2209800" cy="1276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055" y="2920454"/>
            <a:ext cx="209550" cy="1675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9055" y="2739936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055" y="3147119"/>
            <a:ext cx="124509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Permanent Global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055" y="3341340"/>
            <a:ext cx="1822408" cy="5100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EF4444"/>
                </a:solidFill>
                <a:latin typeface="Calibri"/>
              </a:rPr>
              <a:t>2+ is a risk. 5+ is a crisis.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Permanent GA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assignments must be eliminated and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replaced with PIM-activated roles.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3668" y="2615654"/>
            <a:ext cx="2209800" cy="1276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1724" y="2920454"/>
            <a:ext cx="167580" cy="1675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41724" y="2739936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1724" y="3147119"/>
            <a:ext cx="153784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No Emergency Access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1724" y="3341340"/>
            <a:ext cx="1924501" cy="474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No break-glass accounts exist, or accounts</a:t>
            </a:r>
            <a:r>
              <a:rPr sz="839" b="1" i="0">
                <a:solidFill>
                  <a:srgbClr val="EF4444"/>
                </a:solidFill>
                <a:latin typeface="Calibri"/>
              </a:rPr>
              <a:t> not tested in 90+ days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— leaving zero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recovery path during lockout.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486" y="2615654"/>
            <a:ext cx="2209800" cy="1276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4541" y="2920454"/>
            <a:ext cx="188565" cy="1675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44541" y="2739936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4541" y="3147119"/>
            <a:ext cx="13460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Legacy Auth Actively in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4541" y="3341340"/>
            <a:ext cx="1864563" cy="516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EF4444"/>
                </a:solidFill>
                <a:latin typeface="Calibri"/>
              </a:rPr>
              <a:t>SMTP Auth, IMAP, POP3, Basic Auth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still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active — these protocols bypass MFA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entirely and are primary attack vectors.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155" y="2615654"/>
            <a:ext cx="2209800" cy="1276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7210" y="2920454"/>
            <a:ext cx="167580" cy="1675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47210" y="2739936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7210" y="3147119"/>
            <a:ext cx="167074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CA Policy — No Legacy Auth 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7210" y="3341340"/>
            <a:ext cx="2014484" cy="4865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Conditional Access policy set exists but </a:t>
            </a:r>
            <a:r>
              <a:rPr sz="839" b="1" i="0">
                <a:solidFill>
                  <a:srgbClr val="FF6200"/>
                </a:solidFill>
                <a:latin typeface="Calibri"/>
              </a:rPr>
              <a:t>no</a:t>
            </a:r>
            <a:r>
              <a:rPr sz="839" b="1" i="0">
                <a:solidFill>
                  <a:srgbClr val="FF6200"/>
                </a:solidFill>
                <a:latin typeface="Calibri"/>
              </a:rPr>
              <a:t> rule blocking legacy auth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— the single most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common gap found in the field.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1972" y="2615654"/>
            <a:ext cx="2209800" cy="1276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0028" y="2920454"/>
            <a:ext cx="125759" cy="1675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50028" y="2739936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0028" y="3147119"/>
            <a:ext cx="141059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MFA Registration Below 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0028" y="3341340"/>
            <a:ext cx="1837584" cy="4736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Any user population with </a:t>
            </a:r>
            <a:r>
              <a:rPr sz="839" b="1" i="0">
                <a:solidFill>
                  <a:srgbClr val="EF4444"/>
                </a:solidFill>
                <a:latin typeface="Calibri"/>
              </a:rPr>
              <a:t>MFA coverage</a:t>
            </a:r>
            <a:r>
              <a:rPr sz="839" b="1" i="0">
                <a:solidFill>
                  <a:srgbClr val="EF4444"/>
                </a:solidFill>
                <a:latin typeface="Calibri"/>
              </a:rPr>
              <a:t> under 60%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represents an unacceptable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credential compromise surface.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980705"/>
            <a:ext cx="2209800" cy="14192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055" y="4285505"/>
            <a:ext cx="146744" cy="1675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9055" y="4104988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055" y="4512171"/>
            <a:ext cx="162163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Labels Optional, No Enforcement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055" y="4706391"/>
            <a:ext cx="1803399" cy="5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Sensitivity labels published but </a:t>
            </a:r>
            <a:r>
              <a:rPr sz="839" b="1" i="0">
                <a:solidFill>
                  <a:srgbClr val="FF6200"/>
                </a:solidFill>
                <a:latin typeface="Calibri"/>
              </a:rPr>
              <a:t>entirely</a:t>
            </a:r>
            <a:r>
              <a:rPr sz="839" b="1" i="0">
                <a:solidFill>
                  <a:srgbClr val="FF6200"/>
                </a:solidFill>
                <a:latin typeface="Calibri"/>
              </a:rPr>
              <a:t> optional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— no enforcement means no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protection. Labels without policy are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theater.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83668" y="3980705"/>
            <a:ext cx="2209800" cy="14192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41724" y="4285505"/>
            <a:ext cx="167580" cy="1675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41724" y="4104988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1724" y="4512171"/>
            <a:ext cx="14528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No DLP in Enforcement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1724" y="4706391"/>
            <a:ext cx="1991796" cy="4412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DLP policies exist only in </a:t>
            </a:r>
            <a:r>
              <a:rPr sz="839" b="1" i="0">
                <a:solidFill>
                  <a:srgbClr val="EF4444"/>
                </a:solidFill>
                <a:latin typeface="Calibri"/>
              </a:rPr>
              <a:t>simulation mode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— data exfiltration is unblocked. Simulation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is not protection.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6486" y="3980705"/>
            <a:ext cx="2209800" cy="14192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4541" y="4285505"/>
            <a:ext cx="188565" cy="1675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144541" y="4104988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44541" y="4512171"/>
            <a:ext cx="149780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No IR Playbook for Credentials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44541" y="4706391"/>
            <a:ext cx="1898594" cy="5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No incident response playbook exists for</a:t>
            </a:r>
            <a:r>
              <a:rPr sz="839" b="1" i="0">
                <a:solidFill>
                  <a:srgbClr val="EF4444"/>
                </a:solidFill>
                <a:latin typeface="Calibri"/>
              </a:rPr>
              <a:t> credential compromise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— the most likely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breach scenario has no documented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response.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9155" y="3980705"/>
            <a:ext cx="2209800" cy="14192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47210" y="4285505"/>
            <a:ext cx="209550" cy="1675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47210" y="4104988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47210" y="4512171"/>
            <a:ext cx="159260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Guest Accounts — No Expiration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47210" y="4706391"/>
            <a:ext cx="1900587" cy="5246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Guest identities with </a:t>
            </a:r>
            <a:r>
              <a:rPr sz="839" b="1" i="0">
                <a:solidFill>
                  <a:srgbClr val="FF6200"/>
                </a:solidFill>
                <a:latin typeface="Calibri"/>
              </a:rPr>
              <a:t>no expiration policy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accumulate indefinitely — unmanaged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external access is a persistent exposure.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91972" y="3980705"/>
            <a:ext cx="2209800" cy="141922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50028" y="4285505"/>
            <a:ext cx="209550" cy="16758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750028" y="4104988"/>
            <a:ext cx="95696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EF4444">
                    <a:alpha val="60000"/>
                  </a:srgbClr>
                </a:solidFill>
                <a:latin typeface="Calibri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50028" y="4512171"/>
            <a:ext cx="167803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Service Principals — Owner: 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50028" y="4706391"/>
            <a:ext cx="1931552" cy="5205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Service principals with </a:t>
            </a:r>
            <a:r>
              <a:rPr sz="839" b="1" i="0">
                <a:solidFill>
                  <a:srgbClr val="EF4444"/>
                </a:solidFill>
                <a:latin typeface="Calibri"/>
              </a:rPr>
              <a:t>no assigned owner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are unmanaged, unreviewed, and often</a:t>
            </a:r>
            <a:r>
              <a:rPr sz="839" b="0" i="0">
                <a:solidFill>
                  <a:srgbClr val="D1D5DB"/>
                </a:solidFill>
                <a:latin typeface="Calibri"/>
              </a:rPr>
              <a:t> over-privileged — a silent attack surface.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