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3390" y="335309"/>
            <a:ext cx="17145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560" y="209270"/>
            <a:ext cx="8541692" cy="4937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The Premise — Identity Is the New Perimeter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5790" y="388590"/>
            <a:ext cx="141624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974" b="1" i="0">
                <a:solidFill>
                  <a:srgbClr val="FFFFFF"/>
                </a:solidFill>
                <a:latin typeface="Calibri"/>
              </a:rPr>
              <a:t>SECURITY MODERNIZATION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648075"/>
            <a:ext cx="3000375" cy="2247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225" y="3648075"/>
            <a:ext cx="3000375" cy="2247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6925" y="3648075"/>
            <a:ext cx="3000375" cy="2247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9150" y="3648075"/>
            <a:ext cx="3000375" cy="2247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10208" y="4342286"/>
            <a:ext cx="696366" cy="3108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FF6200"/>
                </a:solidFill>
                <a:latin typeface="Calibri"/>
              </a:rPr>
              <a:t>80%+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7977" y="4691791"/>
            <a:ext cx="1640681" cy="1664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FFFFF"/>
                </a:solidFill>
                <a:latin typeface="Calibri"/>
              </a:rPr>
              <a:t>BREACHES VIA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4350" y="4425481"/>
            <a:ext cx="984646" cy="3108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EF4444"/>
                </a:solidFill>
                <a:latin typeface="Calibri"/>
              </a:rPr>
              <a:t>$4.88M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2735" y="4774986"/>
            <a:ext cx="1107876" cy="1664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FFFFF"/>
                </a:solidFill>
                <a:latin typeface="Calibri"/>
              </a:rPr>
              <a:t>AVG. BREACH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839" y="4425481"/>
            <a:ext cx="942528" cy="3108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1D4ED8"/>
                </a:solidFill>
                <a:latin typeface="Calibri"/>
              </a:rPr>
              <a:t>4-Layer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850" y="4774986"/>
            <a:ext cx="1326505" cy="1664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FFFFF"/>
                </a:solidFill>
                <a:latin typeface="Calibri"/>
              </a:rPr>
              <a:t>CORRECT SEQUENCING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4113" y="4342286"/>
            <a:ext cx="718691" cy="3108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10B981"/>
                </a:solidFill>
                <a:latin typeface="Calibri"/>
              </a:rPr>
              <a:t>Day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521" y="4691791"/>
            <a:ext cx="1432024" cy="1664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FFFFFF"/>
                </a:solidFill>
                <a:latin typeface="Calibri"/>
              </a:rPr>
              <a:t>RISK REDUCTION BEGINS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1702" y="1721643"/>
            <a:ext cx="7717982" cy="16892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1">
                <a:solidFill>
                  <a:srgbClr val="FFFFFF"/>
                </a:solidFill>
                <a:latin typeface="Calibri"/>
              </a:rPr>
              <a:t>Identity is the new perimeter — over </a:t>
            </a:r>
            <a:r>
              <a:rPr sz="2592" b="1" i="0">
                <a:solidFill>
                  <a:srgbClr val="FF6200"/>
                </a:solidFill>
                <a:latin typeface="Calibri"/>
              </a:rPr>
              <a:t>80% of breaches</a:t>
            </a:r>
            <a:r>
              <a:rPr sz="2592" b="1" i="0">
                <a:solidFill>
                  <a:srgbClr val="FF6200"/>
                </a:solidFill>
                <a:latin typeface="Calibri"/>
              </a:rPr>
              <a:t> involve compromised credentials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 , 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making identity the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 single highest-leverage investment in any security</a:t>
            </a:r>
            <a:r>
              <a:rPr sz="2592" b="1" i="1">
                <a:solidFill>
                  <a:srgbClr val="FFFFFF"/>
                </a:solidFill>
                <a:latin typeface="Calibri"/>
              </a:rPr>
              <a:t> modernization effort.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9250" y="1462682"/>
            <a:ext cx="473571" cy="1066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8402"/>
              </a:lnSpc>
              <a:spcBef>
                <a:spcPts val="0"/>
              </a:spcBef>
              <a:spcAft>
                <a:spcPts val="0"/>
              </a:spcAft>
            </a:pPr>
            <a:r>
              <a:rPr sz="8400" b="0" i="0">
                <a:solidFill>
                  <a:srgbClr val="FF6200">
                    <a:alpha val="13000"/>
                  </a:srgbClr>
                </a:solidFill>
                <a:latin typeface="Georgia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3803" y="3475120"/>
            <a:ext cx="5144244" cy="17922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D1D5DB">
                    <a:alpha val="80000"/>
                  </a:srgbClr>
                </a:solidFill>
                <a:latin typeface="Calibri"/>
              </a:rPr>
              <a:t>Security Modernization Implementation Framework  ·  Mike Garcia  ·  v1.0,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9178" y="2938908"/>
            <a:ext cx="473571" cy="1066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8402"/>
              </a:lnSpc>
              <a:spcBef>
                <a:spcPts val="0"/>
              </a:spcBef>
              <a:spcAft>
                <a:spcPts val="0"/>
              </a:spcAft>
            </a:pPr>
            <a:r>
              <a:rPr sz="8400" b="0" i="0">
                <a:solidFill>
                  <a:srgbClr val="FF6200">
                    <a:alpha val="13000"/>
                  </a:srgbClr>
                </a:solidFill>
                <a:latin typeface="Georgia"/>
              </a:rPr>
              <a:t>”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492" y="4089499"/>
            <a:ext cx="247650" cy="1980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21444" y="4907756"/>
            <a:ext cx="1996040" cy="4947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Compromised identity is the leading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 attack vector across enterprise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 environments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760" y="4172694"/>
            <a:ext cx="123825" cy="19809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05683" y="4990951"/>
            <a:ext cx="2148719" cy="387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IBM Cost of a Data Breach Report 2024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— highest recorded average to date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3556" y="4172694"/>
            <a:ext cx="222944" cy="19809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94425" y="4990951"/>
            <a:ext cx="1674124" cy="3779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Identity 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mbria Math"/>
              </a:rPr>
              <a:t>→ 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Data Protection 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mbria Math"/>
              </a:rPr>
              <a:t>→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Governance 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mbria Math"/>
              </a:rPr>
              <a:t>→ 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AI Enablement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09708" y="4089499"/>
            <a:ext cx="247650" cy="19809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881913" y="4907756"/>
            <a:ext cx="2232111" cy="4947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1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Every layer reinforces the one beneath it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— risk reduced from day one of</a:t>
            </a:r>
            <a:r>
              <a:rPr sz="1008" b="0" i="0">
                <a:solidFill>
                  <a:srgbClr val="D1D5DB">
                    <a:alpha val="85000"/>
                  </a:srgbClr>
                </a:solidFill>
                <a:latin typeface="Calibri"/>
              </a:rPr>
              <a:t> 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7472" y="5738023"/>
            <a:ext cx="2564308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D1D5DB"/>
                </a:solidFill>
                <a:latin typeface="Calibri"/>
              </a:rPr>
              <a:t>Source: IBM Cost of a Data Breach Report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2755" y="5738023"/>
            <a:ext cx="2195363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D1D5DB"/>
                </a:solidFill>
                <a:latin typeface="Calibri"/>
              </a:rPr>
              <a:t>Security Modernization Framework v1.0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9094" y="5738023"/>
            <a:ext cx="2480220" cy="1587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41" b="1" i="0">
                <a:solidFill>
                  <a:srgbClr val="D1D5DB"/>
                </a:solidFill>
                <a:latin typeface="Calibri"/>
              </a:rPr>
              <a:t>Classification: Internal / Delivery Confidential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2684" y="5760243"/>
            <a:ext cx="128587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37980" y="5803106"/>
            <a:ext cx="28575" cy="285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14319" y="5803106"/>
            <a:ext cx="28575" cy="285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