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0"/>
            <a:ext cx="32385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81500"/>
            <a:ext cx="2857500" cy="2476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8916" y="469255"/>
            <a:ext cx="19812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0841" y="565546"/>
            <a:ext cx="118764" cy="1189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219075"/>
            <a:ext cx="276611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SECURITY MODERNIZATION IMPLEMENTATION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03913"/>
            <a:ext cx="2964209" cy="3688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Calibri"/>
              </a:rPr>
              <a:t>The 90-Day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5806" y="545455"/>
            <a:ext cx="147086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Stabilize </a:t>
            </a:r>
            <a:r>
              <a:rPr sz="936" b="1" i="0">
                <a:solidFill>
                  <a:srgbClr val="FF6200"/>
                </a:solidFill>
                <a:latin typeface="Cambria Math"/>
              </a:rPr>
              <a:t>→ </a:t>
            </a:r>
            <a:r>
              <a:rPr sz="936" b="1" i="0">
                <a:solidFill>
                  <a:srgbClr val="FF6200"/>
                </a:solidFill>
                <a:latin typeface="Calibri"/>
              </a:rPr>
              <a:t>Enforce </a:t>
            </a:r>
            <a:r>
              <a:rPr sz="936" b="1" i="0">
                <a:solidFill>
                  <a:srgbClr val="FF6200"/>
                </a:solidFill>
                <a:latin typeface="Cambria Math"/>
              </a:rPr>
              <a:t>→ </a:t>
            </a:r>
            <a:r>
              <a:rPr sz="936" b="1" i="0">
                <a:solidFill>
                  <a:srgbClr val="FF6200"/>
                </a:solidFill>
                <a:latin typeface="Calibri"/>
              </a:rPr>
              <a:t>Mature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457152"/>
            <a:ext cx="5753100" cy="16445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0" y="2793057"/>
            <a:ext cx="5162550" cy="790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3046" y="2816274"/>
            <a:ext cx="5810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0" y="3741687"/>
            <a:ext cx="5162550" cy="7905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9170" y="3764905"/>
            <a:ext cx="641746" cy="193476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93961" y="4713535"/>
            <a:ext cx="641746" cy="19347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5600" y="1114276"/>
            <a:ext cx="4953000" cy="5572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3725" y="1907381"/>
            <a:ext cx="106560" cy="1067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5325" y="2466677"/>
            <a:ext cx="153724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D1D5DB"/>
                </a:solidFill>
                <a:latin typeface="Calibri"/>
              </a:rPr>
              <a:t>THREE-PHASE EXECUTION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769" y="2785246"/>
            <a:ext cx="370730" cy="3108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6200">
                    <a:alpha val="18000"/>
                  </a:srgbClr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2812107"/>
            <a:ext cx="552896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Stabilize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9246" y="2844849"/>
            <a:ext cx="43681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FF6200"/>
                </a:solidFill>
                <a:latin typeface="Calibri"/>
              </a:rPr>
              <a:t>Days 1–30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50" y="3080593"/>
            <a:ext cx="5043982" cy="3900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1D5DB"/>
                </a:solidFill>
                <a:latin typeface="Calibri"/>
              </a:rPr>
              <a:t>Establish emergency access, enforce admin MFA, block legacy auth, and activate Conditional</a:t>
            </a:r>
            <a:r>
              <a:rPr sz="1019" b="0" i="0">
                <a:solidFill>
                  <a:srgbClr val="D1D5DB"/>
                </a:solidFill>
                <a:latin typeface="Calibri"/>
              </a:rPr>
              <a:t> Access in report-only mode to baseline identity security.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769" y="3733877"/>
            <a:ext cx="370730" cy="31089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6200">
                    <a:alpha val="18000"/>
                  </a:srgbClr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3760737"/>
            <a:ext cx="499020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Enforce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5370" y="3793480"/>
            <a:ext cx="48934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60A5FA"/>
                </a:solidFill>
                <a:latin typeface="Calibri"/>
              </a:rPr>
              <a:t>Days 31–60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" y="4029223"/>
            <a:ext cx="5266717" cy="3836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1D5DB"/>
                </a:solidFill>
                <a:latin typeface="Calibri"/>
              </a:rPr>
              <a:t>Complete full MFA rollout, enforce CA policies org-wide, activate DLP on Exchange &amp; SharePoint,</a:t>
            </a:r>
            <a:r>
              <a:rPr sz="1019" b="0" i="0">
                <a:solidFill>
                  <a:srgbClr val="D1D5DB"/>
                </a:solidFill>
                <a:latin typeface="Calibri"/>
              </a:rPr>
              <a:t> and deploy Defender XDR baseline across the environment.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769" y="4682507"/>
            <a:ext cx="370730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FF6200">
                    <a:alpha val="18000"/>
                  </a:srgbClr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3950" y="4709368"/>
            <a:ext cx="49381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Mature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0161" y="4742110"/>
            <a:ext cx="48934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1" i="0">
                <a:solidFill>
                  <a:srgbClr val="34D399"/>
                </a:solidFill>
                <a:latin typeface="Calibri"/>
              </a:rPr>
              <a:t>Days 61–90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3950" y="4977854"/>
            <a:ext cx="5150980" cy="3871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1D5DB"/>
                </a:solidFill>
                <a:latin typeface="Calibri"/>
              </a:rPr>
              <a:t>Deploy phishing-resistant auth for all admins, complete full PIM coverage, activate Insider Risk</a:t>
            </a:r>
            <a:r>
              <a:rPr sz="1019" b="0" i="0">
                <a:solidFill>
                  <a:srgbClr val="D1D5DB"/>
                </a:solidFill>
                <a:latin typeface="Calibri"/>
              </a:rPr>
              <a:t> Management, and deliver Copilot readiness assessment.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6485" y="1890266"/>
            <a:ext cx="212853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IMPLEMENTATION ROADMAP — ACTION DETAIL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600" y="2536031"/>
            <a:ext cx="19050" cy="1145083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93028" y="2204442"/>
            <a:ext cx="523875" cy="2000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00925" y="2497931"/>
            <a:ext cx="4019550" cy="10858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2612231"/>
            <a:ext cx="91380" cy="9138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2810767"/>
            <a:ext cx="91380" cy="9138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3009304"/>
            <a:ext cx="91380" cy="9138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3368278"/>
            <a:ext cx="91380" cy="913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00925" y="2212181"/>
            <a:ext cx="52714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Stabilize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7803" y="2242542"/>
            <a:ext cx="31789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30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1855" y="2583656"/>
            <a:ext cx="246310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Emergency access accounts verified &amp; documented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1855" y="2782192"/>
            <a:ext cx="271001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MFA enforced for all administrators; legacy auth blocked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1855" y="2980729"/>
            <a:ext cx="3355638" cy="3033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Conditional Access in report-only mode; sensitivity label taxonomy</a:t>
            </a:r>
            <a:r>
              <a:rPr sz="936" b="0" i="0">
                <a:solidFill>
                  <a:srgbClr val="D1D5DB"/>
                </a:solidFill>
                <a:latin typeface="Calibri"/>
              </a:rPr>
              <a:t> published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1855" y="3339703"/>
            <a:ext cx="172134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PIM activated for Global Admin role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6600" y="4062114"/>
            <a:ext cx="19050" cy="7810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93028" y="3730525"/>
            <a:ext cx="523875" cy="2000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00925" y="4024014"/>
            <a:ext cx="4019550" cy="7239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43800" y="4138314"/>
            <a:ext cx="91380" cy="913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43800" y="4336851"/>
            <a:ext cx="91380" cy="9138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43800" y="4535388"/>
            <a:ext cx="91380" cy="913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00925" y="3738264"/>
            <a:ext cx="47565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Enforce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97803" y="3768625"/>
            <a:ext cx="31789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0A5FA"/>
                </a:solidFill>
                <a:latin typeface="Calibri"/>
              </a:rPr>
              <a:t>60 Days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01855" y="4109739"/>
            <a:ext cx="273471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Full MFA rollout complete; CA policies enforced org-wide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01855" y="4308276"/>
            <a:ext cx="319370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DLP enforced on Exchange &amp; SharePoint; Access Reviews activated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1855" y="4506813"/>
            <a:ext cx="311527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Defender XDR baseline deployed; Insider Risk policies configured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93028" y="4897635"/>
            <a:ext cx="523875" cy="20002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00925" y="5191125"/>
            <a:ext cx="4019550" cy="7239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43800" y="5305425"/>
            <a:ext cx="91380" cy="9138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43800" y="5503961"/>
            <a:ext cx="91380" cy="9138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43800" y="5702498"/>
            <a:ext cx="91380" cy="913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00925" y="4905375"/>
            <a:ext cx="470892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97803" y="4935735"/>
            <a:ext cx="31789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34D399"/>
                </a:solidFill>
                <a:latin typeface="Calibri"/>
              </a:rPr>
              <a:t>90 Days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01855" y="5276850"/>
            <a:ext cx="358378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Phishing-resistant auth (FIDO2/TAP) for all admins; Endpoint DLP deployed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1855" y="5475386"/>
            <a:ext cx="353511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Full PIM coverage across privileged roles; Insider Risk Management active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01855" y="5673923"/>
            <a:ext cx="339223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Copilot readiness assessment complete; operational model handed off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43725" y="2193131"/>
            <a:ext cx="304800" cy="3048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065912" y="2265908"/>
            <a:ext cx="6027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/>
                </a:solidFill>
                <a:latin typeface="Calibri"/>
              </a:rPr>
              <a:t>1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43725" y="3719214"/>
            <a:ext cx="304800" cy="304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065912" y="3791991"/>
            <a:ext cx="6027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60A5FA"/>
                </a:solidFill>
                <a:latin typeface="Calibri"/>
              </a:rPr>
              <a:t>2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43725" y="4886325"/>
            <a:ext cx="304800" cy="304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065912" y="4959101"/>
            <a:ext cx="6027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34D3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