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815280"/>
            <a:ext cx="11277600" cy="19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9017"/>
            <a:ext cx="3425428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latin typeface="Calibri"/>
              </a:rPr>
              <a:t>The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9974" y="518219"/>
            <a:ext cx="2174825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B7280"/>
                </a:solidFill>
                <a:latin typeface="Calibri"/>
              </a:rPr>
              <a:t>Source: IBM Cost of a Data Breach Report 2024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24830"/>
            <a:ext cx="112776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3060" y="1179016"/>
            <a:ext cx="1905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6049863"/>
            <a:ext cx="11277600" cy="571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6263431"/>
            <a:ext cx="1143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3425" y="1162883"/>
            <a:ext cx="1544835" cy="487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840" b="1" i="0">
                <a:solidFill>
                  <a:srgbClr val="FF6200"/>
                </a:solidFill>
                <a:latin typeface="Calibri"/>
              </a:rPr>
              <a:t>$4.88M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6910" y="1186755"/>
            <a:ext cx="8604426" cy="4399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Industry average cost of a single data breach</a:t>
            </a:r>
            <a:r>
              <a:rPr sz="1260" b="0" i="0">
                <a:solidFill>
                  <a:srgbClr val="D1D5DB"/>
                </a:solidFill>
                <a:latin typeface="Calibri"/>
              </a:rPr>
              <a:t> — and over </a:t>
            </a:r>
            <a:r>
              <a:rPr sz="1260" b="1" i="0">
                <a:solidFill>
                  <a:srgbClr val="FFFFFF"/>
                </a:solidFill>
                <a:latin typeface="Calibri"/>
              </a:rPr>
              <a:t>80% of incidents</a:t>
            </a:r>
            <a:r>
              <a:rPr sz="1260" b="0" i="0">
                <a:solidFill>
                  <a:srgbClr val="D1D5DB"/>
                </a:solidFill>
                <a:latin typeface="Calibri"/>
              </a:rPr>
              <a:t> trace back to compromised credentials. </a:t>
            </a:r>
            <a:r>
              <a:rPr sz="1260" b="0" i="0">
                <a:solidFill>
                  <a:srgbClr val="D1D5DB"/>
                </a:solidFill>
                <a:latin typeface="Calibri"/>
              </a:rPr>
              <a:t>Identity-first</a:t>
            </a:r>
            <a:r>
              <a:rPr sz="1260" b="0" i="0">
                <a:solidFill>
                  <a:srgbClr val="D1D5DB"/>
                </a:solidFill>
                <a:latin typeface="Calibri"/>
              </a:rPr>
              <a:t> controls target the root cause, not the symptom.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105" y="6167883"/>
            <a:ext cx="10828645" cy="3431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BFDBFE"/>
                </a:solidFill>
                <a:latin typeface="Calibri"/>
              </a:rPr>
              <a:t>Framework Principle:</a:t>
            </a:r>
            <a:r>
              <a:rPr sz="1019" b="0" i="0">
                <a:solidFill>
                  <a:srgbClr val="93C5FD"/>
                </a:solidFill>
                <a:latin typeface="Calibri"/>
              </a:rPr>
              <a:t> Unstructured security modernization costs more and delivers less. This framework sequences work by </a:t>
            </a:r>
            <a:r>
              <a:rPr sz="1019" b="1" i="0">
                <a:solidFill>
                  <a:srgbClr val="BFDBFE"/>
                </a:solidFill>
                <a:latin typeface="Calibri"/>
              </a:rPr>
              <a:t>risk reduction per dollar invested</a:t>
            </a:r>
            <a:r>
              <a:rPr sz="1019" b="0" i="0">
                <a:solidFill>
                  <a:srgbClr val="93C5FD"/>
                </a:solidFill>
                <a:latin typeface="Calibri"/>
              </a:rPr>
              <a:t> — maximizing measurable impact in the</a:t>
            </a:r>
            <a:r>
              <a:rPr sz="1019" b="0" i="0">
                <a:solidFill>
                  <a:srgbClr val="93C5FD"/>
                </a:solidFill>
                <a:latin typeface="Calibri"/>
              </a:rPr>
              <a:t> first 90 days while building a durable foundation for long-term maturity.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942951"/>
            <a:ext cx="3629025" cy="395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325" y="2453729"/>
            <a:ext cx="38100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325" y="5462289"/>
            <a:ext cx="9525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1523" y="5462289"/>
            <a:ext cx="9810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62398" y="5462289"/>
            <a:ext cx="352425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034" y="2560439"/>
            <a:ext cx="167580" cy="1675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5325" y="2171551"/>
            <a:ext cx="46270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DRIVER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0625" y="2436316"/>
            <a:ext cx="1291381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Reduced Credential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0625" y="2644229"/>
            <a:ext cx="1485007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Compromise Exposure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325" y="2959774"/>
            <a:ext cx="648741" cy="28955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sz="2279" b="1" i="0">
                <a:solidFill>
                  <a:srgbClr val="FF6200"/>
                </a:solidFill>
                <a:latin typeface="Calibri"/>
              </a:rPr>
              <a:t>80%+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325" y="3278832"/>
            <a:ext cx="217437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9CA3AF"/>
                </a:solidFill>
                <a:latin typeface="Calibri"/>
              </a:rPr>
              <a:t>of breaches involve compromised credentials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325" y="3566666"/>
            <a:ext cx="3195324" cy="8637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7"/>
              </a:lnSpc>
              <a:spcBef>
                <a:spcPts val="0"/>
              </a:spcBef>
              <a:spcAft>
                <a:spcPts val="0"/>
              </a:spcAft>
            </a:pPr>
            <a:r>
              <a:rPr sz="1056" b="0" i="0">
                <a:solidFill>
                  <a:srgbClr val="D1D5DB"/>
                </a:solidFill>
                <a:latin typeface="Calibri"/>
              </a:rPr>
              <a:t>Identity-first controls eliminate the highest-leverage</a:t>
            </a:r>
            <a:r>
              <a:rPr sz="1056" b="0" i="0">
                <a:solidFill>
                  <a:srgbClr val="D1D5DB"/>
                </a:solidFill>
                <a:latin typeface="Calibri"/>
              </a:rPr>
              <a:t> attack vector. MFA, Conditional Access, and PIM directly</a:t>
            </a:r>
            <a:r>
              <a:rPr sz="1056" b="0" i="0">
                <a:solidFill>
                  <a:srgbClr val="D1D5DB"/>
                </a:solidFill>
                <a:latin typeface="Calibri"/>
              </a:rPr>
              <a:t> reduce the probability and blast radius of credential-</a:t>
            </a:r>
            <a:r>
              <a:rPr sz="1056" b="0" i="0">
                <a:solidFill>
                  <a:srgbClr val="D1D5DB"/>
                </a:solidFill>
                <a:latin typeface="Calibri"/>
              </a:rPr>
              <a:t> based incidents.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640" y="5511700"/>
            <a:ext cx="768697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DBA74"/>
                </a:solidFill>
                <a:latin typeface="Calibri"/>
              </a:rPr>
              <a:t>MFA Enforcement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04838" y="5511700"/>
            <a:ext cx="803374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DBA74"/>
                </a:solidFill>
                <a:latin typeface="Calibri"/>
              </a:rPr>
              <a:t>Conditional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55714" y="5511700"/>
            <a:ext cx="173384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DBA74"/>
                </a:solidFill>
                <a:latin typeface="Calibri"/>
              </a:rPr>
              <a:t>PIM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9850" y="1942951"/>
            <a:ext cx="3629025" cy="395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7975" y="2453729"/>
            <a:ext cx="381000" cy="3810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17975" y="5462289"/>
            <a:ext cx="447675" cy="2286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32176" y="5462289"/>
            <a:ext cx="428625" cy="228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24500" y="5462289"/>
            <a:ext cx="476250" cy="228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62811" y="5462289"/>
            <a:ext cx="428625" cy="2286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60194" y="5462289"/>
            <a:ext cx="51435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45521" y="2560439"/>
            <a:ext cx="125759" cy="1675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517975" y="2171551"/>
            <a:ext cx="46270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DRIVER 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3275" y="2436316"/>
            <a:ext cx="1442739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Regulatory Alignment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3275" y="2644229"/>
            <a:ext cx="635644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7975" y="2959774"/>
            <a:ext cx="146744" cy="28955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sz="2279" b="1" i="0">
                <a:solidFill>
                  <a:srgbClr val="FF6200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7975" y="3278832"/>
            <a:ext cx="280377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9CA3AF"/>
                </a:solidFill>
                <a:latin typeface="Calibri"/>
              </a:rPr>
              <a:t>major frameworks — audit-ready documentation included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7975" y="3566666"/>
            <a:ext cx="3133547" cy="8318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7"/>
              </a:lnSpc>
              <a:spcBef>
                <a:spcPts val="0"/>
              </a:spcBef>
              <a:spcAft>
                <a:spcPts val="0"/>
              </a:spcAft>
            </a:pPr>
            <a:r>
              <a:rPr sz="1056" b="0" i="0">
                <a:solidFill>
                  <a:srgbClr val="D1D5DB"/>
                </a:solidFill>
                <a:latin typeface="Calibri"/>
              </a:rPr>
              <a:t>Control mapping delivered for all major compliance</a:t>
            </a:r>
            <a:r>
              <a:rPr sz="1056" b="0" i="0">
                <a:solidFill>
                  <a:srgbClr val="D1D5DB"/>
                </a:solidFill>
                <a:latin typeface="Calibri"/>
              </a:rPr>
              <a:t> frameworks. Audit-ready documentation is included —</a:t>
            </a:r>
            <a:r>
              <a:rPr sz="1056" b="0" i="0">
                <a:solidFill>
                  <a:srgbClr val="D1D5DB"/>
                </a:solidFill>
                <a:latin typeface="Calibri"/>
              </a:rPr>
              <a:t>reducing compliance overhead and accelerating</a:t>
            </a:r>
            <a:r>
              <a:rPr sz="1056" b="0" i="0">
                <a:solidFill>
                  <a:srgbClr val="D1D5DB"/>
                </a:solidFill>
                <a:latin typeface="Calibri"/>
              </a:rPr>
              <a:t> certification timelines.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1290" y="5511700"/>
            <a:ext cx="266700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93C5FD"/>
                </a:solidFill>
                <a:latin typeface="Calibri"/>
              </a:rPr>
              <a:t>HIPAA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5491" y="5511700"/>
            <a:ext cx="24482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93C5FD"/>
                </a:solidFill>
                <a:latin typeface="Calibri"/>
              </a:rPr>
              <a:t>GDPR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17815" y="5511700"/>
            <a:ext cx="290810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93C5FD"/>
                </a:solidFill>
                <a:latin typeface="Calibri"/>
              </a:rPr>
              <a:t>CMMC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56126" y="5511700"/>
            <a:ext cx="24988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93C5FD"/>
                </a:solidFill>
                <a:latin typeface="Calibri"/>
              </a:rPr>
              <a:t>SOC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53510" y="5511700"/>
            <a:ext cx="332630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93C5FD"/>
                </a:solidFill>
                <a:latin typeface="Calibri"/>
              </a:rPr>
              <a:t>PCI-DSS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2649" y="1942951"/>
            <a:ext cx="3629025" cy="39528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0774" y="2453729"/>
            <a:ext cx="381000" cy="3810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40774" y="5462289"/>
            <a:ext cx="914400" cy="2286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24677" y="5462289"/>
            <a:ext cx="342900" cy="2286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36484" y="5462289"/>
            <a:ext cx="695325" cy="2286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26499" y="2560439"/>
            <a:ext cx="209550" cy="1675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340774" y="2171551"/>
            <a:ext cx="46270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DRIVER 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36074" y="2436316"/>
            <a:ext cx="1275010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Secure AI Adoption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36074" y="2644229"/>
            <a:ext cx="533995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Enabled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40774" y="2959774"/>
            <a:ext cx="862458" cy="28955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sz="2279" b="1" i="0">
                <a:solidFill>
                  <a:srgbClr val="FF6200"/>
                </a:solidFill>
                <a:latin typeface="Calibri"/>
              </a:rPr>
              <a:t>Copilot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40774" y="3278832"/>
            <a:ext cx="237246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9CA3AF"/>
                </a:solidFill>
                <a:latin typeface="Calibri"/>
              </a:rPr>
              <a:t>-ready environment before AI deployment begins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40774" y="3566666"/>
            <a:ext cx="3226596" cy="8078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7"/>
              </a:lnSpc>
              <a:spcBef>
                <a:spcPts val="0"/>
              </a:spcBef>
              <a:spcAft>
                <a:spcPts val="0"/>
              </a:spcAft>
            </a:pPr>
            <a:r>
              <a:rPr sz="1056" b="0" i="0">
                <a:solidFill>
                  <a:srgbClr val="D1D5DB"/>
                </a:solidFill>
                <a:latin typeface="Calibri"/>
              </a:rPr>
              <a:t>Sensitivity labeling, DLP policies, and governance</a:t>
            </a:r>
            <a:r>
              <a:rPr sz="1056" b="0" i="0">
                <a:solidFill>
                  <a:srgbClr val="D1D5DB"/>
                </a:solidFill>
                <a:latin typeface="Calibri"/>
              </a:rPr>
              <a:t> structures are in place before Copilot or any AI workload</a:t>
            </a:r>
            <a:r>
              <a:rPr sz="1056" b="0" i="0">
                <a:solidFill>
                  <a:srgbClr val="D1D5DB"/>
                </a:solidFill>
                <a:latin typeface="Calibri"/>
              </a:rPr>
              <a:t> is deployed — preventing data exposure at the point of</a:t>
            </a:r>
            <a:r>
              <a:rPr sz="1056" b="0" i="0">
                <a:solidFill>
                  <a:srgbClr val="D1D5DB"/>
                </a:solidFill>
                <a:latin typeface="Calibri"/>
              </a:rPr>
              <a:t> adoption.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4089" y="5511700"/>
            <a:ext cx="73640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DBA74"/>
                </a:solidFill>
                <a:latin typeface="Calibri"/>
              </a:rPr>
              <a:t>Sensitivity Labels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7992" y="5511700"/>
            <a:ext cx="16430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DBA74"/>
                </a:solidFill>
                <a:latin typeface="Calibri"/>
              </a:rPr>
              <a:t>DLP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800" y="5511700"/>
            <a:ext cx="516284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DBA74"/>
                </a:solidFill>
                <a:latin typeface="Calibri"/>
              </a:rPr>
              <a:t>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