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0"/>
            <a:ext cx="32385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62500"/>
            <a:ext cx="20955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13270"/>
            <a:ext cx="11887200" cy="1076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5185" y="448478"/>
            <a:ext cx="4557859" cy="554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Good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185" y="1002963"/>
            <a:ext cx="2908696" cy="1997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72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D1D5DB"/>
                </a:solidFill>
                <a:latin typeface="Calibri"/>
              </a:rPr>
              <a:t>Five indicators of a mature security posture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1638300"/>
            <a:ext cx="4067175" cy="2524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1800225"/>
            <a:ext cx="771525" cy="771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285" y="3583483"/>
            <a:ext cx="10668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175" y="1638300"/>
            <a:ext cx="4067175" cy="2524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7675" y="1800225"/>
            <a:ext cx="771525" cy="771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6446" y="3583483"/>
            <a:ext cx="6953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275" y="1638300"/>
            <a:ext cx="4067175" cy="2524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5775" y="1800225"/>
            <a:ext cx="771525" cy="7715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9606" y="3583483"/>
            <a:ext cx="876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3943350"/>
            <a:ext cx="4067175" cy="2524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4105275"/>
            <a:ext cx="771525" cy="7715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3285" y="5891510"/>
            <a:ext cx="80962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175" y="3943350"/>
            <a:ext cx="4067175" cy="25241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7675" y="4105275"/>
            <a:ext cx="771525" cy="7715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6446" y="5891510"/>
            <a:ext cx="6953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766" y="2096095"/>
            <a:ext cx="167580" cy="16758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5926" y="2096095"/>
            <a:ext cx="167580" cy="16758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09086" y="2096095"/>
            <a:ext cx="167580" cy="1675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781" y="4404121"/>
            <a:ext cx="209550" cy="16758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6911" y="4404121"/>
            <a:ext cx="125759" cy="1675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3285" y="2492275"/>
            <a:ext cx="216321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Zero Legacy 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285" y="2793057"/>
            <a:ext cx="3421668" cy="7552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D1D5DB"/>
                </a:solidFill>
                <a:latin typeface="Calibri"/>
              </a:rPr>
              <a:t>No sign-ins via SMTP Auth, IMAP, POP3, or Basic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Auth. Modern authentication enforced across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every workload and service.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485" y="3607846"/>
            <a:ext cx="919013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Identity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6446" y="2492275"/>
            <a:ext cx="299888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Verified Identity at Every Access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446" y="2793057"/>
            <a:ext cx="3192801" cy="7402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D1D5DB"/>
                </a:solidFill>
                <a:latin typeface="Calibri"/>
              </a:rPr>
              <a:t>Every user, application, and device evaluated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against Conditional Access policy before any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access is granted.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2646" y="3607846"/>
            <a:ext cx="547687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Zero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9606" y="2492275"/>
            <a:ext cx="216544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Data Classified &amp; Protected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9606" y="2793057"/>
            <a:ext cx="3488810" cy="74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D1D5DB"/>
                </a:solidFill>
                <a:latin typeface="Calibri"/>
              </a:rPr>
              <a:t>Every sensitive document labeled, governed, and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DLP-protected — at rest, in transit, and in use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across all environments.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5806" y="3607846"/>
            <a:ext cx="730150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Data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285" y="4800302"/>
            <a:ext cx="200426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Governance on Autopilot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285" y="5101083"/>
            <a:ext cx="3110483" cy="873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D1D5DB"/>
                </a:solidFill>
                <a:latin typeface="Calibri"/>
              </a:rPr>
              <a:t>Access reviews on schedule, PIM enforced,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lifecycle fully managed, and guest identities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governed without manual intervention.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485" y="5915873"/>
            <a:ext cx="658713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6446" y="4800302"/>
            <a:ext cx="260121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Resilience Tested &amp; Documented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6446" y="5101083"/>
            <a:ext cx="3517782" cy="7597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D1D5DB"/>
                </a:solidFill>
                <a:latin typeface="Calibri"/>
              </a:rPr>
              <a:t>Emergency access accounts verified, IR playbooks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exercised regularly, and SOC fully integrated with</a:t>
            </a:r>
            <a:r>
              <a:rPr sz="1310" b="0" i="0">
                <a:solidFill>
                  <a:srgbClr val="D1D5DB"/>
                </a:solidFill>
                <a:latin typeface="Calibri"/>
              </a:rPr>
              <a:t> Defender XDR telemetry.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2646" y="5915873"/>
            <a:ext cx="548431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6200"/>
                </a:solidFill>
                <a:latin typeface="Calibri"/>
              </a:rPr>
              <a:t>Resilience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00803" y="6547544"/>
            <a:ext cx="181019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>
                    <a:alpha val="20000"/>
                  </a:srgbClr>
                </a:solidFill>
                <a:latin typeface="Calibri"/>
              </a:rPr>
              <a:t>SECURITY MODERNIZATION ·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