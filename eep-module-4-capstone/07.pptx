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3048000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572000"/>
            <a:ext cx="2286000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883890"/>
            <a:ext cx="571500" cy="28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6227"/>
            <a:ext cx="5699892" cy="5990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Self-Sustaining</a:t>
            </a:r>
            <a:r>
              <a:rPr sz="3600" b="1" i="0">
                <a:solidFill>
                  <a:srgbClr val="FFFFFF"/>
                </a:solidFill>
                <a:latin typeface="Calibri"/>
              </a:rPr>
              <a:t>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6469"/>
            <a:ext cx="5541615" cy="2176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14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1">
                <a:solidFill>
                  <a:srgbClr val="CCCCCC"/>
                </a:solidFill>
                <a:latin typeface="Calibri"/>
              </a:rPr>
              <a:t>Four mechanisms that sustain EEP without dependency on any single leader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2390775"/>
            <a:ext cx="5905500" cy="15716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562225"/>
            <a:ext cx="857250" cy="857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0275" y="2390775"/>
            <a:ext cx="5905500" cy="1571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825" y="2562225"/>
            <a:ext cx="857250" cy="857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3790950"/>
            <a:ext cx="5905500" cy="1828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3962400"/>
            <a:ext cx="857250" cy="857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275" y="3790950"/>
            <a:ext cx="5905500" cy="1828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825" y="3962400"/>
            <a:ext cx="857250" cy="857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084" y="2906166"/>
            <a:ext cx="205680" cy="182909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2906166"/>
            <a:ext cx="205680" cy="18290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084" y="4302174"/>
            <a:ext cx="205680" cy="182909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5134" y="4302174"/>
            <a:ext cx="182760" cy="1829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04925" y="2769096"/>
            <a:ext cx="1779686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F6200"/>
                </a:solidFill>
                <a:latin typeface="Calibri"/>
              </a:rPr>
              <a:t>Certification Hierarchy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4925" y="3071812"/>
            <a:ext cx="4589607" cy="61732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66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CCCCCC"/>
                </a:solidFill>
                <a:latin typeface="Calibri"/>
              </a:rPr>
              <a:t>Level 3 Trainers certify Level 1 Practitioners, distributing program</a:t>
            </a:r>
            <a:r>
              <a:rPr sz="1310" b="0" i="0">
                <a:solidFill>
                  <a:srgbClr val="CCCCCC"/>
                </a:solidFill>
                <a:latin typeface="Calibri"/>
              </a:rPr>
              <a:t> authority downward over time without central dependency.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7515" y="2769096"/>
            <a:ext cx="1526381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F6200"/>
                </a:solidFill>
                <a:latin typeface="Calibri"/>
              </a:rPr>
              <a:t>Playbook Evolution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7515" y="3071812"/>
            <a:ext cx="4486901" cy="6416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66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CCCCCC"/>
                </a:solidFill>
                <a:latin typeface="Calibri"/>
              </a:rPr>
              <a:t>The trainer cohort updates the playbook quarterly, embedding</a:t>
            </a:r>
            <a:r>
              <a:rPr sz="1310" b="0" i="0">
                <a:solidFill>
                  <a:srgbClr val="CCCCCC"/>
                </a:solidFill>
                <a:latin typeface="Calibri"/>
              </a:rPr>
              <a:t> real delivery learnings directly into the living program standard.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4925" y="4165103"/>
            <a:ext cx="1925538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F6200"/>
                </a:solidFill>
                <a:latin typeface="Calibri"/>
              </a:rPr>
              <a:t>Scenario Library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925" y="4467820"/>
            <a:ext cx="4458388" cy="7087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66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CCCCCC"/>
                </a:solidFill>
                <a:latin typeface="Calibri"/>
              </a:rPr>
              <a:t>New scenarios sourced from live engagements keep practice</a:t>
            </a:r>
            <a:r>
              <a:rPr sz="1310" b="0" i="0">
                <a:solidFill>
                  <a:srgbClr val="CCCCCC"/>
                </a:solidFill>
                <a:latin typeface="Calibri"/>
              </a:rPr>
              <a:t> material current, field-tested, and continuously relevant to real</a:t>
            </a:r>
            <a:r>
              <a:rPr sz="1310" b="0" i="0">
                <a:solidFill>
                  <a:srgbClr val="CCCCCC"/>
                </a:solidFill>
                <a:latin typeface="Calibri"/>
              </a:rPr>
              <a:t> delivery.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7515" y="4165103"/>
            <a:ext cx="1964382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FF6200"/>
                </a:solidFill>
                <a:latin typeface="Calibri"/>
              </a:rPr>
              <a:t>Adjacent Team Adoption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7515" y="4467820"/>
            <a:ext cx="4311840" cy="7087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966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CCCCCC"/>
                </a:solidFill>
                <a:latin typeface="Calibri"/>
              </a:rPr>
              <a:t>Certified trainers expand the program to new teams</a:t>
            </a:r>
            <a:r>
              <a:rPr sz="1310" b="0" i="0">
                <a:solidFill>
                  <a:srgbClr val="CCCCCC"/>
                </a:solidFill>
                <a:latin typeface="Calibri"/>
              </a:rPr>
              <a:t> independently — growth is not gated by the founding team's</a:t>
            </a:r>
            <a:r>
              <a:rPr sz="1310" b="0" i="0">
                <a:solidFill>
                  <a:srgbClr val="CCCCCC"/>
                </a:solidFill>
                <a:latin typeface="Calibri"/>
              </a:rPr>
              <a:t> involvement.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8473" y="6572250"/>
            <a:ext cx="180632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>
                    <a:alpha val="20000"/>
                  </a:srgbClr>
                </a:solidFill>
                <a:latin typeface="Calibri"/>
              </a:rPr>
              <a:t>EEP CERTIFICATION PATH · SECTION 1.1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