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35207"/>
            <a:ext cx="8093255" cy="625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Catching Drift Before It Becomes 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3820"/>
            <a:ext cx="5673923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CCCCCC"/>
                </a:solidFill>
                <a:latin typeface="Calibri"/>
              </a:rPr>
              <a:t>BEHAVIORAL DRIFT IS INCREMENTAL, INVISIBLE FROM INSIDE, AND ALWAYS ACCUMULATES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05656"/>
            <a:ext cx="5505450" cy="5419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1234231"/>
            <a:ext cx="5486400" cy="723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995" y="1428005"/>
            <a:ext cx="335160" cy="3351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995" y="2451050"/>
            <a:ext cx="5057775" cy="638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995" y="3185666"/>
            <a:ext cx="5057775" cy="638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995" y="3920281"/>
            <a:ext cx="5057775" cy="6381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995" y="4654897"/>
            <a:ext cx="5057775" cy="638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5782716"/>
            <a:ext cx="5486400" cy="8286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995" y="5906541"/>
            <a:ext cx="5057775" cy="571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835" y="1530846"/>
            <a:ext cx="129480" cy="12948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051" y="2583507"/>
            <a:ext cx="129480" cy="12948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051" y="3318123"/>
            <a:ext cx="129480" cy="12948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051" y="4052738"/>
            <a:ext cx="129480" cy="12948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051" y="4787354"/>
            <a:ext cx="129480" cy="12948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001" y="6126063"/>
            <a:ext cx="137070" cy="13721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4127" y="1364901"/>
            <a:ext cx="1459408" cy="2414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01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F59E0B"/>
                </a:solidFill>
                <a:latin typeface="Calibri"/>
              </a:rPr>
              <a:t>Drift Unchecked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127" y="1637407"/>
            <a:ext cx="1417141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CCCCCC"/>
                </a:solidFill>
                <a:latin typeface="Calibri"/>
              </a:rPr>
              <a:t>How it accumulates silently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502" y="2569071"/>
            <a:ext cx="4377448" cy="4036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FFFFFF"/>
                </a:solidFill>
                <a:latin typeface="Calibri"/>
              </a:rPr>
              <a:t>Drift is incremental — it never announces itself; it accumulates one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skipped step at a time.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502" y="3303686"/>
            <a:ext cx="4472950" cy="5385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FFFFFF"/>
                </a:solidFill>
                <a:latin typeface="Calibri"/>
              </a:rPr>
              <a:t>Team stops running CEES Sessions after major delivery events — first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because the calendar is tight, then because it feels normal.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502" y="4038302"/>
            <a:ext cx="4695991" cy="412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FFFFFF"/>
                </a:solidFill>
                <a:latin typeface="Calibri"/>
              </a:rPr>
              <a:t>Reconstruction shrinks to a single question; lessons become generic and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disconnected from real delivery.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502" y="4772917"/>
            <a:ext cx="4476169" cy="40783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FFFFFF"/>
                </a:solidFill>
                <a:latin typeface="Calibri"/>
              </a:rPr>
              <a:t>Invisible from inside — those living the drift cannot see it; only those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holding the standard can.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452" y="6007447"/>
            <a:ext cx="4645684" cy="358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74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FCD34D"/>
                </a:solidFill>
                <a:latin typeface="Calibri"/>
              </a:rPr>
              <a:t>Pattern:</a:t>
            </a:r>
            <a:r>
              <a:rPr sz="1092" b="0" i="1">
                <a:solidFill>
                  <a:srgbClr val="FCD34D"/>
                </a:solidFill>
                <a:latin typeface="Calibri"/>
              </a:rPr>
              <a:t> "We've been really busy — the sessions are still happening, they're just</a:t>
            </a:r>
            <a:r>
              <a:rPr sz="1092" b="0" i="1">
                <a:solidFill>
                  <a:srgbClr val="FCD34D"/>
                </a:solidFill>
                <a:latin typeface="Calibri"/>
              </a:rPr>
              <a:t> more efficient now."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29350" y="1205656"/>
            <a:ext cx="5505450" cy="54197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234231"/>
            <a:ext cx="5486400" cy="7239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52145" y="1428005"/>
            <a:ext cx="335160" cy="33516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2145" y="2451050"/>
            <a:ext cx="5057775" cy="6381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2145" y="3185666"/>
            <a:ext cx="5057775" cy="6381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2145" y="3920281"/>
            <a:ext cx="5057775" cy="6381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2145" y="4654897"/>
            <a:ext cx="5057775" cy="6381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5782716"/>
            <a:ext cx="5486400" cy="8286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52145" y="5906541"/>
            <a:ext cx="5057775" cy="571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4985" y="1530846"/>
            <a:ext cx="129480" cy="12948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10201" y="2583507"/>
            <a:ext cx="129480" cy="12948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10201" y="3318123"/>
            <a:ext cx="129480" cy="12948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10201" y="4052738"/>
            <a:ext cx="129480" cy="12948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10201" y="4787354"/>
            <a:ext cx="129480" cy="12948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91151" y="6126063"/>
            <a:ext cx="137070" cy="13721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86277" y="1364901"/>
            <a:ext cx="1558081" cy="2414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01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FF6200"/>
                </a:solidFill>
                <a:latin typeface="Calibri"/>
              </a:rPr>
              <a:t>Trainer Response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6277" y="1637407"/>
            <a:ext cx="2140892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CCCCCC"/>
                </a:solidFill>
                <a:latin typeface="Calibri"/>
              </a:rPr>
              <a:t>Reference awareness and precise naming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8652" y="2569071"/>
            <a:ext cx="4625783" cy="43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FFFFFF"/>
                </a:solidFill>
                <a:latin typeface="Calibri"/>
              </a:rPr>
              <a:t>Maintain reference awareness — hold the standard in mind even when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the team has stopped measuring against it.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8652" y="3303686"/>
            <a:ext cx="4389098" cy="4202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FFFFFF"/>
                </a:solidFill>
                <a:latin typeface="Calibri"/>
              </a:rPr>
              <a:t>Name drift specifically and early — not accusatorially, but precisely.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Vague concern is not enough.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8652" y="4038302"/>
            <a:ext cx="4727569" cy="4617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FFFFFF"/>
                </a:solidFill>
                <a:latin typeface="Calibri"/>
              </a:rPr>
              <a:t>Ask directly: "What is getting in the way of the preparation?" Surface the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real obstacle before another month passes.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8652" y="4772917"/>
            <a:ext cx="4735081" cy="4650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FFFFFF"/>
                </a:solidFill>
                <a:latin typeface="Calibri"/>
              </a:rPr>
              <a:t>Early correction is a conversation. Late correction is a conflict. The timing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of the intervention determines its cost.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9602" y="6007447"/>
            <a:ext cx="4505881" cy="3613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74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FDBA74"/>
                </a:solidFill>
                <a:latin typeface="Calibri"/>
              </a:rPr>
              <a:t>Principle:</a:t>
            </a:r>
            <a:r>
              <a:rPr sz="1092" b="0" i="1">
                <a:solidFill>
                  <a:srgbClr val="FDBA74"/>
                </a:solidFill>
                <a:latin typeface="Calibri"/>
              </a:rPr>
              <a:t> "I want to name something I'm noticing — without blame. That's a</a:t>
            </a:r>
            <a:r>
              <a:rPr sz="1092" b="0" i="1">
                <a:solidFill>
                  <a:srgbClr val="FDBA74"/>
                </a:solidFill>
                <a:latin typeface="Calibri"/>
              </a:rPr>
              <a:t> pattern. Let's be honest about it now."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67375" y="3514725"/>
            <a:ext cx="857250" cy="8572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29325" y="3860303"/>
            <a:ext cx="133350" cy="1524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482506"/>
            <a:ext cx="12192000" cy="37147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90825" y="6610201"/>
            <a:ext cx="161925" cy="1294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067050" y="6585346"/>
            <a:ext cx="6592121" cy="2693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6200"/>
                </a:solidFill>
                <a:latin typeface="Calibri"/>
              </a:rPr>
              <a:t>EEP Trainer Standard:</a:t>
            </a:r>
            <a:r>
              <a:rPr sz="1041" b="0" i="1">
                <a:solidFill>
                  <a:srgbClr val="CCCCCC"/>
                </a:solidFill>
                <a:latin typeface="Calibri"/>
              </a:rPr>
              <a:t> Early correction is a conversation — late correction is a conflict. Name it early. Name it precisely.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91104" y="222795"/>
            <a:ext cx="194369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CCCCCC">
                    <a:alpha val="60000"/>
                  </a:srgbClr>
                </a:solidFill>
                <a:latin typeface="Calibri"/>
              </a:rPr>
              <a:t>EEP · TRAINER-OF-TRAINERS · MODULE 2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0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