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0027"/>
            <a:ext cx="6564311" cy="5972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Integrating All 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Four Components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43947"/>
            <a:ext cx="11277600" cy="352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448573"/>
            <a:ext cx="1524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2500" y="6446787"/>
            <a:ext cx="10095697" cy="2275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FFFFF"/>
                </a:solidFill>
                <a:latin typeface="Calibri"/>
              </a:rPr>
              <a:t>System Integrity:</a:t>
            </a:r>
            <a:r>
              <a:rPr sz="984" b="0" i="0">
                <a:solidFill>
                  <a:srgbClr val="CCCCCC"/>
                </a:solidFill>
                <a:latin typeface="Calibri"/>
              </a:rPr>
              <a:t> Remove any one of the four components and the system has a gap — it may not be visible on a single engagement, but it will become visible in the </a:t>
            </a:r>
            <a:r>
              <a:rPr sz="984" b="1" i="0">
                <a:solidFill>
                  <a:srgbClr val="FFFFFF"/>
                </a:solidFill>
                <a:latin typeface="Calibri"/>
              </a:rPr>
              <a:t>variance across a portfolio</a:t>
            </a:r>
            <a:r>
              <a:rPr sz="984" b="0" i="0">
                <a:solidFill>
                  <a:srgbClr val="CCCCCC"/>
                </a:solidFill>
                <a:latin typeface="Calibri"/>
              </a:rPr>
              <a:t> 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0857" y="449609"/>
            <a:ext cx="1543050" cy="276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14682" y="523875"/>
            <a:ext cx="1296292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6200">
                    <a:alpha val="85000"/>
                  </a:srgbClr>
                </a:solidFill>
                <a:latin typeface="Calibri"/>
              </a:rPr>
              <a:t>EEP SYSTEM ARCHITECTURE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883890"/>
            <a:ext cx="2533650" cy="53435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7821" y="1089570"/>
            <a:ext cx="9239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5425" y="1372790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2384375"/>
            <a:ext cx="2133600" cy="647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" y="3101726"/>
            <a:ext cx="2133600" cy="4857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" y="5370760"/>
            <a:ext cx="2133600" cy="6762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14487" y="1513730"/>
            <a:ext cx="219075" cy="17531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" y="5494436"/>
            <a:ext cx="83790" cy="8379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" y="5688062"/>
            <a:ext cx="83790" cy="8379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" y="5881687"/>
            <a:ext cx="83790" cy="8379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7225" y="1120675"/>
            <a:ext cx="624929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COMPONENT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4021" y="1126480"/>
            <a:ext cx="780603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CCCCCC"/>
                </a:solidFill>
                <a:latin typeface="Calibri"/>
              </a:rPr>
              <a:t>ENGAGEMENT 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9386" y="1885336"/>
            <a:ext cx="409277" cy="19202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EDEv4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608" y="2115145"/>
            <a:ext cx="1430833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Engagement Delivery Excellence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770" y="2470100"/>
            <a:ext cx="394394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CCCCCC"/>
                </a:solidFill>
                <a:latin typeface="Calibri"/>
              </a:rPr>
              <a:t>GOVERNS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770" y="2639615"/>
            <a:ext cx="1876128" cy="314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79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FFFFF"/>
                </a:solidFill>
                <a:latin typeface="Calibri"/>
              </a:rPr>
              <a:t>What happens at the engagement</a:t>
            </a:r>
            <a:r>
              <a:rPr sz="984" b="1" i="0">
                <a:solidFill>
                  <a:srgbClr val="FFFFFF"/>
                </a:solidFill>
                <a:latin typeface="Calibri"/>
              </a:rPr>
              <a:t> 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770" y="3187451"/>
            <a:ext cx="26238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CCCCCC"/>
                </a:solidFill>
                <a:latin typeface="Calibri"/>
              </a:rPr>
              <a:t>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770" y="3356967"/>
            <a:ext cx="1660773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79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FFFFF"/>
                </a:solidFill>
                <a:latin typeface="Calibri"/>
              </a:rPr>
              <a:t>Client-facing execution standard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885" y="5471666"/>
            <a:ext cx="168265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Signal language and ownership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885" y="5665291"/>
            <a:ext cx="1540073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Three Tests applied per interaction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885" y="5858916"/>
            <a:ext cx="1386185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Outcome Owner accountability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71850" y="883890"/>
            <a:ext cx="2533650" cy="53435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95279" y="1089570"/>
            <a:ext cx="610195" cy="191839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10075" y="1372790"/>
            <a:ext cx="457200" cy="4572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71875" y="2384375"/>
            <a:ext cx="2133600" cy="4857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71875" y="2939206"/>
            <a:ext cx="2133600" cy="4857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71875" y="5370760"/>
            <a:ext cx="2133600" cy="6762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29137" y="1513730"/>
            <a:ext cx="219075" cy="175319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71875" y="5494436"/>
            <a:ext cx="83790" cy="8379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71875" y="5688062"/>
            <a:ext cx="83790" cy="8379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71875" y="5881687"/>
            <a:ext cx="83790" cy="8379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571875" y="1120675"/>
            <a:ext cx="624929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C4E00"/>
                </a:solidFill>
                <a:latin typeface="Calibri"/>
              </a:rPr>
              <a:t>COMPONENT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71479" y="1126480"/>
            <a:ext cx="457795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CCCCCC"/>
                </a:solidFill>
                <a:latin typeface="Calibri"/>
              </a:rPr>
              <a:t>TEAM LEVEL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0166" y="1885336"/>
            <a:ext cx="416867" cy="19202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CEEDS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463" y="2115145"/>
            <a:ext cx="205427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Client Engagement Excellence Delivery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99420" y="2470100"/>
            <a:ext cx="394394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CCCCCC"/>
                </a:solidFill>
                <a:latin typeface="Calibri"/>
              </a:rPr>
              <a:t>GOVERNS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99420" y="2639615"/>
            <a:ext cx="1800820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79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FFFFF"/>
                </a:solidFill>
                <a:latin typeface="Calibri"/>
              </a:rPr>
              <a:t>How the team operates day-to-day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99420" y="3024931"/>
            <a:ext cx="26238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CCCCCC"/>
                </a:solidFill>
                <a:latin typeface="Calibri"/>
              </a:rPr>
              <a:t>SCOPE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99420" y="3194446"/>
            <a:ext cx="1572369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79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FFFFF"/>
                </a:solidFill>
                <a:latin typeface="Calibri"/>
              </a:rPr>
              <a:t>Team-level operating standard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16535" y="5471666"/>
            <a:ext cx="153590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Daily delivery rhythm and cadence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16535" y="5665291"/>
            <a:ext cx="1495871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Team coordination and escalation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16535" y="5858916"/>
            <a:ext cx="135388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Consistent behavioral baseline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43600" y="542925"/>
            <a:ext cx="3219450" cy="603885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02897" y="1089570"/>
            <a:ext cx="914400" cy="20955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24725" y="1397793"/>
            <a:ext cx="457200" cy="4572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86525" y="2409378"/>
            <a:ext cx="2133600" cy="6477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86525" y="3126730"/>
            <a:ext cx="2133600" cy="48577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525" y="5370760"/>
            <a:ext cx="2133600" cy="67627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788622" y="1152227"/>
            <a:ext cx="102840" cy="9138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65665" y="1538733"/>
            <a:ext cx="175170" cy="175319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86525" y="5494436"/>
            <a:ext cx="83790" cy="8379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86525" y="5688062"/>
            <a:ext cx="83790" cy="8379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86525" y="5881687"/>
            <a:ext cx="83790" cy="8379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486525" y="1133177"/>
            <a:ext cx="624929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8C42"/>
                </a:solidFill>
                <a:latin typeface="Calibri"/>
              </a:rPr>
              <a:t>COMPONENT 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37152" y="1138981"/>
            <a:ext cx="597247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FF8C42"/>
                </a:solidFill>
                <a:latin typeface="Calibri"/>
              </a:rPr>
              <a:t>TRUST ANCHOR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77670" y="1910339"/>
            <a:ext cx="951309" cy="19202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CE Framework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5618" y="2140148"/>
            <a:ext cx="1395263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Client Engagement Trust Model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14070" y="2495103"/>
            <a:ext cx="403175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CCCCCC"/>
                </a:solidFill>
                <a:latin typeface="Calibri"/>
              </a:rPr>
              <a:t>PROVIDES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4070" y="2664618"/>
            <a:ext cx="1747821" cy="314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79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FFFFF"/>
                </a:solidFill>
                <a:latin typeface="Calibri"/>
              </a:rPr>
              <a:t>Trust model all components are</a:t>
            </a:r>
            <a:r>
              <a:rPr sz="984" b="1" i="0">
                <a:solidFill>
                  <a:srgbClr val="FFFFFF"/>
                </a:solidFill>
                <a:latin typeface="Calibri"/>
              </a:rPr>
              <a:t> designed to produce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14070" y="3212455"/>
            <a:ext cx="26238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CCCCCC"/>
                </a:solidFill>
                <a:latin typeface="Calibri"/>
              </a:rPr>
              <a:t>SCOPE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14070" y="3381970"/>
            <a:ext cx="1738461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79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FFFFF"/>
                </a:solidFill>
                <a:latin typeface="Calibri"/>
              </a:rPr>
              <a:t>Strategic partnership architecture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31185" y="5471666"/>
            <a:ext cx="1611213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Defines what trust looks like at scale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31185" y="5665291"/>
            <a:ext cx="148351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Unifies EDEv4 and CEEDS outputs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31185" y="5858916"/>
            <a:ext cx="1638151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Measurable client relationship depth</a:t>
            </a: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201150" y="883890"/>
            <a:ext cx="2533650" cy="5343525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672167" y="1089570"/>
            <a:ext cx="857250" cy="19050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239375" y="1372790"/>
            <a:ext cx="457200" cy="45720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401175" y="2384375"/>
            <a:ext cx="2133600" cy="647700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401175" y="3101726"/>
            <a:ext cx="2133600" cy="485775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01175" y="5370760"/>
            <a:ext cx="2133600" cy="676275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380315" y="1513730"/>
            <a:ext cx="175170" cy="175319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401175" y="5494436"/>
            <a:ext cx="83790" cy="83790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401175" y="5688062"/>
            <a:ext cx="83790" cy="83790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401175" y="5881687"/>
            <a:ext cx="83790" cy="8379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9401175" y="1120675"/>
            <a:ext cx="624929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CCCCC"/>
                </a:solidFill>
                <a:latin typeface="Calibri"/>
              </a:rPr>
              <a:t>COMPONENT 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48367" y="1126480"/>
            <a:ext cx="710207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CCCCCC"/>
                </a:solidFill>
                <a:latin typeface="Calibri"/>
              </a:rPr>
              <a:t>PRE-ENGAGEMENT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17310" y="1885336"/>
            <a:ext cx="1101179" cy="19202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Governance App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81579" y="2115145"/>
            <a:ext cx="137279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Assessment &amp; Intelligence Tool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28720" y="2470100"/>
            <a:ext cx="403175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CCCCCC"/>
                </a:solidFill>
                <a:latin typeface="Calibri"/>
              </a:rPr>
              <a:t>PROVIDES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28720" y="2639615"/>
            <a:ext cx="1586404" cy="314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79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FFFFF"/>
                </a:solidFill>
                <a:latin typeface="Calibri"/>
              </a:rPr>
              <a:t>Pre-engagement intelligence</a:t>
            </a:r>
            <a:r>
              <a:rPr sz="984" b="1" i="0">
                <a:solidFill>
                  <a:srgbClr val="FFFFFF"/>
                </a:solidFill>
                <a:latin typeface="Calibri"/>
              </a:rPr>
              <a:t> baseline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28720" y="3187451"/>
            <a:ext cx="26238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CCCCCC"/>
                </a:solidFill>
                <a:latin typeface="Calibri"/>
              </a:rPr>
              <a:t>SCOPE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528720" y="3356967"/>
            <a:ext cx="176971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79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FFFFF"/>
                </a:solidFill>
                <a:latin typeface="Calibri"/>
              </a:rPr>
              <a:t>Enables all three to start informed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545835" y="5471666"/>
            <a:ext cx="135880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Risk and readiness assessment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545835" y="5665291"/>
            <a:ext cx="120699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Engagement health scoring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45835" y="5858916"/>
            <a:ext cx="1409402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Portfolio-level variance visibility</a:t>
            </a:r>
          </a:p>
        </p:txBody>
      </p:sp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114675" y="3449984"/>
            <a:ext cx="133350" cy="213419"/>
          </a:xfrm>
          <a:prstGeom prst="rect">
            <a:avLst/>
          </a:prstGeom>
        </p:spPr>
      </p:pic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029325" y="3449984"/>
            <a:ext cx="133350" cy="213419"/>
          </a:xfrm>
          <a:prstGeom prst="rect">
            <a:avLst/>
          </a:prstGeom>
        </p:spPr>
      </p:pic>
      <p:pic>
        <p:nvPicPr>
          <p:cNvPr id="96" name="Picture 95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943975" y="3449984"/>
            <a:ext cx="133350" cy="213419"/>
          </a:xfrm>
          <a:prstGeom prst="rect">
            <a:avLst/>
          </a:prstGeom>
        </p:spPr>
      </p:pic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0" y="0"/>
            <a:ext cx="48768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