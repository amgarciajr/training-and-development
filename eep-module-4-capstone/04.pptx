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0"/>
            <a:ext cx="2286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46496"/>
            <a:ext cx="1127760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7225" y="539829"/>
            <a:ext cx="4901356" cy="4800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Leading EEP Across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5275"/>
            <a:ext cx="1941909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>
                    <a:alpha val="90000"/>
                  </a:srgbClr>
                </a:solidFill>
                <a:latin typeface="Calibri"/>
              </a:rPr>
              <a:t>EEP MODULE 4 · TRAINER-OF-TRAINERS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1102667"/>
            <a:ext cx="6703069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CCCCC">
                    <a:alpha val="80000"/>
                  </a:srgbClr>
                </a:solidFill>
                <a:latin typeface="Calibri"/>
              </a:rPr>
              <a:t>Advanced practitioners extend EEP adoption beyond their own team through four core leadership behaviors.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525166"/>
            <a:ext cx="5553075" cy="1143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763142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084" y="2900213"/>
            <a:ext cx="205680" cy="1829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04925" y="2740075"/>
            <a:ext cx="710356" cy="21579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</a:pPr>
            <a:r>
              <a:rPr sz="1416" b="1" i="0">
                <a:solidFill>
                  <a:srgbClr val="FF6200"/>
                </a:solidFill>
                <a:latin typeface="Calibri"/>
              </a:rPr>
              <a:t>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4925" y="3028354"/>
            <a:ext cx="4613450" cy="5119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164" b="0" i="0">
                <a:solidFill>
                  <a:srgbClr val="CCCCCC"/>
                </a:solidFill>
                <a:latin typeface="Calibri"/>
              </a:rPr>
              <a:t>Demonstrate EEP behaviors visibly in every delivery conversation, not just</a:t>
            </a:r>
            <a:r>
              <a:rPr sz="1164" b="0" i="0">
                <a:solidFill>
                  <a:srgbClr val="CCCCCC"/>
                </a:solidFill>
                <a:latin typeface="Calibri"/>
              </a:rPr>
              <a:t> in formal session contexts where performance is expected.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725" y="2533650"/>
            <a:ext cx="28575" cy="11334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9790" y="2525166"/>
            <a:ext cx="5553075" cy="1143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7915" y="2763142"/>
            <a:ext cx="4572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2215" y="2900213"/>
            <a:ext cx="228451" cy="1829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27515" y="2740075"/>
            <a:ext cx="677614" cy="21579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</a:pPr>
            <a:r>
              <a:rPr sz="1416" b="1" i="0">
                <a:solidFill>
                  <a:srgbClr val="FF6200"/>
                </a:solidFill>
                <a:latin typeface="Calibri"/>
              </a:rPr>
              <a:t>Coaching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7515" y="3028354"/>
            <a:ext cx="4499706" cy="5368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164" b="0" i="0">
                <a:solidFill>
                  <a:srgbClr val="CCCCCC"/>
                </a:solidFill>
                <a:latin typeface="Calibri"/>
              </a:rPr>
              <a:t>Develop practitioners through structured feedback loops and deliberate</a:t>
            </a:r>
            <a:r>
              <a:rPr sz="1164" b="0" i="0">
                <a:solidFill>
                  <a:srgbClr val="CCCCCC"/>
                </a:solidFill>
                <a:latin typeface="Calibri"/>
              </a:rPr>
              <a:t> observation — not just answering ad-hoc questions as they arise.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0" y="2533650"/>
            <a:ext cx="28575" cy="11334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842891"/>
            <a:ext cx="5553075" cy="11430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4080867"/>
            <a:ext cx="457200" cy="4572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544" y="4217937"/>
            <a:ext cx="182760" cy="1829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04925" y="4057800"/>
            <a:ext cx="766464" cy="21579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</a:pPr>
            <a:r>
              <a:rPr sz="1416" b="1" i="0">
                <a:solidFill>
                  <a:srgbClr val="FF6200"/>
                </a:solidFill>
                <a:latin typeface="Calibri"/>
              </a:rPr>
              <a:t>Sustaining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4925" y="4346078"/>
            <a:ext cx="4169666" cy="55344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164" b="0" i="0">
                <a:solidFill>
                  <a:srgbClr val="CCCCCC"/>
                </a:solidFill>
                <a:latin typeface="Calibri"/>
              </a:rPr>
              <a:t>Maintain program integrity over time by identifying and correcting</a:t>
            </a:r>
            <a:r>
              <a:rPr sz="1164" b="0" i="0">
                <a:solidFill>
                  <a:srgbClr val="CCCCCC"/>
                </a:solidFill>
                <a:latin typeface="Calibri"/>
              </a:rPr>
              <a:t> behavioral drift before it becomes normalized as team culture.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725" y="3848100"/>
            <a:ext cx="28575" cy="11334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9790" y="3842891"/>
            <a:ext cx="5553075" cy="1371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7915" y="4080867"/>
            <a:ext cx="457200" cy="4572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5134" y="4217937"/>
            <a:ext cx="182760" cy="1829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27515" y="4057800"/>
            <a:ext cx="773757" cy="21579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99"/>
              </a:lnSpc>
              <a:spcBef>
                <a:spcPts val="0"/>
              </a:spcBef>
              <a:spcAft>
                <a:spcPts val="0"/>
              </a:spcAft>
            </a:pPr>
            <a:r>
              <a:rPr sz="1416" b="1" i="0">
                <a:solidFill>
                  <a:srgbClr val="FF6200"/>
                </a:solidFill>
                <a:latin typeface="Calibri"/>
              </a:rPr>
              <a:t>Expanding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7515" y="4346078"/>
            <a:ext cx="4276818" cy="6241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164" b="0" i="0">
                <a:solidFill>
                  <a:srgbClr val="CCCCCC"/>
                </a:solidFill>
                <a:latin typeface="Calibri"/>
              </a:rPr>
              <a:t>Introduce EEP to adjacent teams and support their adoption</a:t>
            </a:r>
            <a:r>
              <a:rPr sz="1164" b="0" i="0">
                <a:solidFill>
                  <a:srgbClr val="CCCCCC"/>
                </a:solidFill>
                <a:latin typeface="Calibri"/>
              </a:rPr>
              <a:t> independently — without requiring the founding team to lead every</a:t>
            </a:r>
            <a:r>
              <a:rPr sz="1164" b="0" i="0">
                <a:solidFill>
                  <a:srgbClr val="CCCCCC"/>
                </a:solidFill>
                <a:latin typeface="Calibri"/>
              </a:rPr>
              <a:t> implementation.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91250" y="3848100"/>
            <a:ext cx="28575" cy="13525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532364"/>
            <a:ext cx="12192000" cy="3238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7200" y="6634107"/>
            <a:ext cx="2244774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FFFFFF">
                    <a:alpha val="30000"/>
                  </a:srgbClr>
                </a:solidFill>
                <a:latin typeface="Calibri"/>
              </a:rPr>
              <a:t>ENGAGEMENT EXCELLENCE PROGRAM · INTERNAL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314" y="6634107"/>
            <a:ext cx="1265485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FF6200">
                    <a:alpha val="50000"/>
                  </a:srgbClr>
                </a:solidFill>
                <a:latin typeface="Calibri"/>
              </a:rPr>
              <a:t>MODULE 4 OF 4 ·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