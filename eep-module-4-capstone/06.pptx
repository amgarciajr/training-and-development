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580" y="0"/>
            <a:ext cx="707127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580" y="0"/>
            <a:ext cx="7067550" cy="96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580" y="6515100"/>
            <a:ext cx="706755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251" y="250477"/>
            <a:ext cx="102840" cy="91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49962" y="243780"/>
            <a:ext cx="1395561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</a:pPr>
            <a:r>
              <a:rPr sz="695" b="1" i="0">
                <a:solidFill>
                  <a:srgbClr val="FF6200"/>
                </a:solidFill>
                <a:latin typeface="Calibri"/>
              </a:rPr>
              <a:t>MODULE 4 · ADVANCED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251" y="393644"/>
            <a:ext cx="6353288" cy="4281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Calibri"/>
              </a:rPr>
              <a:t>Capstone Scenario — </a:t>
            </a:r>
            <a:r>
              <a:rPr sz="2640" b="1" i="0">
                <a:solidFill>
                  <a:srgbClr val="FF6200"/>
                </a:solidFill>
                <a:latin typeface="Calibri"/>
              </a:rPr>
              <a:t>Advanced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251" y="6638925"/>
            <a:ext cx="3272135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</a:pPr>
            <a:r>
              <a:rPr sz="695" b="0" i="1">
                <a:solidFill>
                  <a:srgbClr val="CCCCCC">
                    <a:alpha val="40000"/>
                  </a:srgbClr>
                </a:solidFill>
                <a:latin typeface="Calibri"/>
              </a:rPr>
              <a:t>EEP Training Delivery Guide · Section 4 · Facilitation Script for Naming Drift in a CEES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595" y="6638925"/>
            <a:ext cx="776585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35"/>
              </a:lnSpc>
              <a:spcBef>
                <a:spcPts val="0"/>
              </a:spcBef>
              <a:spcAft>
                <a:spcPts val="0"/>
              </a:spcAft>
            </a:pPr>
            <a:r>
              <a:rPr sz="695" b="1" i="0">
                <a:solidFill>
                  <a:srgbClr val="FF6200">
                    <a:alpha val="50000"/>
                  </a:srgbClr>
                </a:solidFill>
                <a:latin typeface="Calibri"/>
              </a:rPr>
              <a:t>EEP · MODULE 4 OF 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580" y="962917"/>
            <a:ext cx="7067550" cy="5543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5114925" cy="685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5124450" cy="6858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690" y="426690"/>
            <a:ext cx="432435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690" y="4301876"/>
            <a:ext cx="381000" cy="190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690" y="6063555"/>
            <a:ext cx="432435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515" y="493365"/>
            <a:ext cx="114300" cy="913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3276" y="482362"/>
            <a:ext cx="1733698" cy="11338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1" i="0">
                <a:solidFill>
                  <a:srgbClr val="FF6200"/>
                </a:solidFill>
                <a:latin typeface="Calibri"/>
              </a:rPr>
              <a:t>LEVEL 3 EEP TRAINER · CAPSTONE 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690" y="2790229"/>
            <a:ext cx="4491569" cy="14426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42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1">
                <a:solidFill>
                  <a:srgbClr val="E8E8E8"/>
                </a:solidFill>
                <a:latin typeface="Calibri"/>
              </a:rPr>
              <a:t>I want to name something I'm noticing, and I want to name it </a:t>
            </a:r>
            <a:r>
              <a:rPr sz="1056" b="1" i="0">
                <a:solidFill>
                  <a:srgbClr val="FF6200"/>
                </a:solidFill>
                <a:latin typeface="Calibri"/>
              </a:rPr>
              <a:t>without blame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 :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 for the past few sessions, 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we've arrived without scenarios and the commitment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 review has been brief. 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That's a </a:t>
            </a:r>
            <a:r>
              <a:rPr sz="1056" b="1" i="0">
                <a:solidFill>
                  <a:srgbClr val="FF6200"/>
                </a:solidFill>
                <a:latin typeface="Calibri"/>
              </a:rPr>
              <a:t>pattern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 . I'm going to ask us directly — 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what is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 getting in the way of the preparation? And what does the program 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need from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 us to work? Let's be honest about it now before we spend another 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month going</a:t>
            </a:r>
            <a:r>
              <a:rPr sz="1056" b="0" i="1">
                <a:solidFill>
                  <a:srgbClr val="E8E8E8"/>
                </a:solidFill>
                <a:latin typeface="Calibri"/>
              </a:rPr>
              <a:t> through motions.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690" y="4458835"/>
            <a:ext cx="1344810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CORRECT TRAINER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690" y="4624185"/>
            <a:ext cx="2532012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CCCCCC"/>
                </a:solidFill>
                <a:latin typeface="Calibri"/>
              </a:rPr>
              <a:t>EEP Training Delivery Guide · Section 4 · Pattern 5 — Quiet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690" y="6235005"/>
            <a:ext cx="4275003" cy="272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CCCCCC">
                    <a:alpha val="65000"/>
                  </a:srgbClr>
                </a:solidFill>
                <a:latin typeface="Calibri"/>
              </a:rPr>
              <a:t>Early correction is a conversation. Late correction is a conflict. Name the drift precisely and early — not</a:t>
            </a:r>
            <a:r>
              <a:rPr sz="780" b="0" i="1">
                <a:solidFill>
                  <a:srgbClr val="CCCCCC">
                    <a:alpha val="65000"/>
                  </a:srgbClr>
                </a:solidFill>
                <a:latin typeface="Calibri"/>
              </a:rPr>
              <a:t> accusatorially, but with precision.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5114925" cy="38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6690" y="864691"/>
            <a:ext cx="338286" cy="762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6001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FF6200">
                    <a:alpha val="25000"/>
                  </a:srgbClr>
                </a:solidFill>
                <a:latin typeface="Georgia"/>
              </a:rPr>
              <a:t>“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0580" y="962917"/>
            <a:ext cx="3524250" cy="2762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4870" y="1385738"/>
            <a:ext cx="285750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94870" y="2425005"/>
            <a:ext cx="2981325" cy="1619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73005" y="1463873"/>
            <a:ext cx="129480" cy="129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72001" y="1439067"/>
            <a:ext cx="1359842" cy="1609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CEES Sessions Degrading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870" y="1825674"/>
            <a:ext cx="3088491" cy="5284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9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Sessions are becoming shorter, the reconstruction phase is being</a:t>
            </a:r>
            <a:r>
              <a:rPr sz="864" b="0" i="0">
                <a:solidFill>
                  <a:srgbClr val="CCCCCC"/>
                </a:solidFill>
                <a:latin typeface="Calibri"/>
              </a:rPr>
              <a:t> skipped entirely, and lesson statements are increasingly generic —</a:t>
            </a:r>
            <a:r>
              <a:rPr sz="864" b="0" i="0">
                <a:solidFill>
                  <a:srgbClr val="CCCCCC"/>
                </a:solidFill>
                <a:latin typeface="Calibri"/>
              </a:rPr>
              <a:t>the hallmarks of quiet drift.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8185" y="2461914"/>
            <a:ext cx="923627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6200"/>
                </a:solidFill>
                <a:latin typeface="Calibri"/>
              </a:rPr>
              <a:t>PATTERN 5 — QUIET DRIFT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24450" y="962025"/>
            <a:ext cx="28575" cy="27717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394870" y="1206698"/>
            <a:ext cx="656480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6200">
                    <a:alpha val="80000"/>
                  </a:srgbClr>
                </a:solidFill>
                <a:latin typeface="Calibri"/>
              </a:rPr>
              <a:t>01 · THE SCENARIO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0903" y="962917"/>
            <a:ext cx="3524250" cy="27622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35194" y="1385738"/>
            <a:ext cx="285750" cy="2857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35194" y="2425005"/>
            <a:ext cx="2981325" cy="1619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97106" y="1463873"/>
            <a:ext cx="161925" cy="1294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12324" y="1439067"/>
            <a:ext cx="1241375" cy="1609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Framed as "Efficiency"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35194" y="1825674"/>
            <a:ext cx="2943936" cy="5473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9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The Engagement Lead says the sessions are "just more efficient</a:t>
            </a:r>
            <a:r>
              <a:rPr sz="864" b="0" i="0">
                <a:solidFill>
                  <a:srgbClr val="CCCCCC"/>
                </a:solidFill>
                <a:latin typeface="Calibri"/>
              </a:rPr>
              <a:t> now." This is the most common rationalization for drift —</a:t>
            </a:r>
            <a:r>
              <a:rPr sz="864" b="0" i="0">
                <a:solidFill>
                  <a:srgbClr val="CCCCCC"/>
                </a:solidFill>
                <a:latin typeface="Calibri"/>
              </a:rPr>
              <a:t>rebranding degradation as improvement.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8509" y="2461914"/>
            <a:ext cx="910828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CC4E00"/>
                </a:solidFill>
                <a:latin typeface="Calibri"/>
              </a:rPr>
              <a:t>RATIONALIZATION SIGNAL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67750" y="962025"/>
            <a:ext cx="28575" cy="27717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35194" y="1206698"/>
            <a:ext cx="638026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CC4E00">
                    <a:alpha val="80000"/>
                  </a:srgbClr>
                </a:solidFill>
                <a:latin typeface="Calibri"/>
              </a:rPr>
              <a:t>02 · THE REFRAME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0580" y="3743771"/>
            <a:ext cx="3524250" cy="2762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4870" y="4166592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94870" y="5205858"/>
            <a:ext cx="2981325" cy="1619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73005" y="4244726"/>
            <a:ext cx="129480" cy="1294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772001" y="4219921"/>
            <a:ext cx="1350019" cy="1609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Name the Drift Precisely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870" y="4606528"/>
            <a:ext cx="3074235" cy="5375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9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Do not avoid the observation. Name it specifically, without blame,</a:t>
            </a:r>
            <a:r>
              <a:rPr sz="864" b="0" i="0">
                <a:solidFill>
                  <a:srgbClr val="CCCCCC"/>
                </a:solidFill>
                <a:latin typeface="Calibri"/>
              </a:rPr>
              <a:t> and without softening the pattern into vagueness. Precision is the</a:t>
            </a:r>
            <a:r>
              <a:rPr sz="864" b="0" i="0">
                <a:solidFill>
                  <a:srgbClr val="CCCCCC"/>
                </a:solidFill>
                <a:latin typeface="Calibri"/>
              </a:rPr>
              <a:t> act of care — not accusation.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8185" y="5242768"/>
            <a:ext cx="1255514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6200"/>
                </a:solidFill>
                <a:latin typeface="Calibri"/>
              </a:rPr>
              <a:t>WITHOUT BLAME · WITH PRECISION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24450" y="3743325"/>
            <a:ext cx="28575" cy="277177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394870" y="3987551"/>
            <a:ext cx="1002803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6200">
                    <a:alpha val="80000"/>
                  </a:srgbClr>
                </a:solidFill>
                <a:latin typeface="Calibri"/>
              </a:rPr>
              <a:t>03 · THE CORRECT RESPONSE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0903" y="3743771"/>
            <a:ext cx="3524250" cy="27622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35194" y="4166592"/>
            <a:ext cx="285750" cy="2857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35194" y="5205858"/>
            <a:ext cx="2981325" cy="1619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13328" y="4244726"/>
            <a:ext cx="129480" cy="1294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312324" y="4219921"/>
            <a:ext cx="1667916" cy="1609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"What Is Getting in the Way?"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35194" y="4606528"/>
            <a:ext cx="3109186" cy="534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9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CCCCC"/>
                </a:solidFill>
                <a:latin typeface="Calibri"/>
              </a:rPr>
              <a:t>Ask directly: what is blocking preparation? What does the program</a:t>
            </a:r>
            <a:r>
              <a:rPr sz="864" b="0" i="0">
                <a:solidFill>
                  <a:srgbClr val="CCCCCC"/>
                </a:solidFill>
                <a:latin typeface="Calibri"/>
              </a:rPr>
              <a:t> need from us to actually work? Invite honesty now — before</a:t>
            </a:r>
            <a:r>
              <a:rPr sz="864" b="0" i="0">
                <a:solidFill>
                  <a:srgbClr val="CCCCCC"/>
                </a:solidFill>
                <a:latin typeface="Calibri"/>
              </a:rPr>
              <a:t> another month of going through motions.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8509" y="5242768"/>
            <a:ext cx="847576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E8873A"/>
                </a:solidFill>
                <a:latin typeface="Calibri"/>
              </a:rPr>
              <a:t>REFERENCE AWARENESS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667750" y="3743325"/>
            <a:ext cx="28575" cy="277177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935194" y="3987551"/>
            <a:ext cx="1122312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792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E8873A">
                    <a:alpha val="80000"/>
                  </a:srgbClr>
                </a:solidFill>
                <a:latin typeface="Calibri"/>
              </a:rPr>
              <a:t>04 · THE DIAGNOSTIC QUESTION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