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95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580" y="239779"/>
            <a:ext cx="5977830" cy="4937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latin typeface="Calibri"/>
              </a:rPr>
              <a:t>The CE Framework — What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519" y="564207"/>
            <a:ext cx="154691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69"/>
              </a:lnSpc>
              <a:spcBef>
                <a:spcPts val="0"/>
              </a:spcBef>
              <a:spcAft>
                <a:spcPts val="0"/>
              </a:spcAft>
            </a:pPr>
            <a:r>
              <a:rPr sz="974" b="1" i="0">
                <a:solidFill>
                  <a:srgbClr val="FFFFFF">
                    <a:alpha val="35000"/>
                  </a:srgbClr>
                </a:solidFill>
                <a:latin typeface="Calibri"/>
              </a:rPr>
              <a:t>EEP · MODULE 3 · SECTION 3.3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1576982"/>
            <a:ext cx="10287000" cy="523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5300067"/>
            <a:ext cx="11087100" cy="8477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0030" y="1596032"/>
            <a:ext cx="10495322" cy="5967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66"/>
              </a:lnSpc>
              <a:spcBef>
                <a:spcPts val="0"/>
              </a:spcBef>
              <a:spcAft>
                <a:spcPts val="0"/>
              </a:spcAft>
            </a:pPr>
            <a:r>
              <a:rPr sz="1377" b="0" i="1">
                <a:solidFill>
                  <a:srgbClr val="CCCCCC"/>
                </a:solidFill>
                <a:latin typeface="Calibri"/>
              </a:rPr>
              <a:t>The CE Framework is the theoretical and architectural foundation of the EEP — a working model of client trust, not a philosophy document. It is</a:t>
            </a:r>
            <a:r>
              <a:rPr sz="1377" b="0" i="1">
                <a:solidFill>
                  <a:srgbClr val="CCCCCC"/>
                </a:solidFill>
                <a:latin typeface="Calibri"/>
              </a:rPr>
              <a:t> the diagnostic and signal-reading architecture that all other program components are designed to produce.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735" y="5416153"/>
            <a:ext cx="64412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4" b="1" i="0">
                <a:solidFill>
                  <a:srgbClr val="FF6200"/>
                </a:solidFill>
                <a:latin typeface="Calibri"/>
              </a:rP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735" y="5616624"/>
            <a:ext cx="11116999" cy="4085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7"/>
              </a:lnSpc>
              <a:spcBef>
                <a:spcPts val="0"/>
              </a:spcBef>
              <a:spcAft>
                <a:spcPts val="0"/>
              </a:spcAft>
            </a:pPr>
            <a:r>
              <a:rPr sz="1226" b="1" i="0">
                <a:solidFill>
                  <a:srgbClr val="FFFFFF"/>
                </a:solidFill>
                <a:latin typeface="Calibri"/>
              </a:rPr>
              <a:t>The CE Framework is the structural backbone of the EEP — every component, behavior standard, and certification criterion traces back to this model. Understanding it</a:t>
            </a:r>
            <a:r>
              <a:rPr sz="1226" b="1" i="0">
                <a:solidFill>
                  <a:srgbClr val="FFFFFF"/>
                </a:solidFill>
                <a:latin typeface="Calibri"/>
              </a:rPr>
              <a:t> is not optional; it is the prerequisite for everything else in the program.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580" y="2231528"/>
            <a:ext cx="5362575" cy="1466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60" y="2231528"/>
            <a:ext cx="5362575" cy="1466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80" y="3705820"/>
            <a:ext cx="5362575" cy="1457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760" y="3705820"/>
            <a:ext cx="5362575" cy="14573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580" y="2370534"/>
            <a:ext cx="92585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01 / CORE 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580" y="2546895"/>
            <a:ext cx="332154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Working Model — Not a Philosophy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580" y="2870894"/>
            <a:ext cx="5588106" cy="803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276" b="0" i="0">
                <a:solidFill>
                  <a:srgbClr val="CCCCCC"/>
                </a:solidFill>
                <a:latin typeface="Calibri"/>
              </a:rPr>
              <a:t>The framework explains precisely which behaviors build client trust and which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erode it. It is an operational tool designed for active use during engagements, not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a set of aspirational principles or values statements.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60" y="2370534"/>
            <a:ext cx="120074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02 / CRITICAL PRINCIPLE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60" y="2546895"/>
            <a:ext cx="368290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Sequencing Matters as Much as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60" y="2870894"/>
            <a:ext cx="5549323" cy="8955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276" b="0" i="0">
                <a:solidFill>
                  <a:srgbClr val="CCCCCC"/>
                </a:solidFill>
                <a:latin typeface="Calibri"/>
              </a:rPr>
              <a:t>The order in which trust-building activities occur is as important as the activities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themselves. Performing the right behaviors in the wrong sequence produces the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wrong outcome — the framework makes this sequencing explicit and actionable.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580" y="3835300"/>
            <a:ext cx="115684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03 / FUNCTIONAL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580" y="4011662"/>
            <a:ext cx="398770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Diagnostic and Signal-Reading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580" y="4335660"/>
            <a:ext cx="5578602" cy="87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276" b="0" i="0">
                <a:solidFill>
                  <a:srgbClr val="CCCCCC"/>
                </a:solidFill>
                <a:latin typeface="Calibri"/>
              </a:rPr>
              <a:t>The CE Framework serves as the EEP's diagnostic engine — enabling practitioners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to read engagement signals, identify trust gaps, and course-correct before client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relationships deteriorate. Every EEP component traces back to this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60" y="3835300"/>
            <a:ext cx="126980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9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F6200"/>
                </a:solidFill>
                <a:latin typeface="Calibri"/>
              </a:rPr>
              <a:t>04 / STRUCTURAL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8760" y="4011662"/>
            <a:ext cx="281478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17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FFFFFF"/>
                </a:solidFill>
                <a:latin typeface="Calibri"/>
              </a:rPr>
              <a:t>Three-Layer Trust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60" y="4335660"/>
            <a:ext cx="5574156" cy="9066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51"/>
              </a:lnSpc>
              <a:spcBef>
                <a:spcPts val="0"/>
              </a:spcBef>
              <a:spcAft>
                <a:spcPts val="0"/>
              </a:spcAft>
            </a:pPr>
            <a:r>
              <a:rPr sz="1276" b="0" i="0">
                <a:solidFill>
                  <a:srgbClr val="CCCCCC"/>
                </a:solidFill>
                <a:latin typeface="Calibri"/>
              </a:rPr>
              <a:t>Client trust is organized into three sequential layers: </a:t>
            </a:r>
            <a:r>
              <a:rPr sz="1276" b="1" i="0">
                <a:solidFill>
                  <a:srgbClr val="FF6200"/>
                </a:solidFill>
                <a:latin typeface="Calibri"/>
              </a:rPr>
              <a:t>Credibility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— the client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believes we know what we are doing; </a:t>
            </a:r>
            <a:r>
              <a:rPr sz="1276" b="1" i="0">
                <a:solidFill>
                  <a:srgbClr val="FF6200"/>
                </a:solidFill>
                <a:latin typeface="Calibri"/>
              </a:rPr>
              <a:t>Reliability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— the client can predict how we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will behave; </a:t>
            </a:r>
            <a:r>
              <a:rPr sz="1276" b="1" i="0">
                <a:solidFill>
                  <a:srgbClr val="FF6200"/>
                </a:solidFill>
                <a:latin typeface="Calibri"/>
              </a:rPr>
              <a:t>Referenceability</a:t>
            </a:r>
            <a:r>
              <a:rPr sz="1276" b="0" i="0">
                <a:solidFill>
                  <a:srgbClr val="CCCCCC"/>
                </a:solidFill>
                <a:latin typeface="Calibri"/>
              </a:rPr>
              <a:t> — the client actively advocates for working with us.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381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