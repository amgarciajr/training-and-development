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92360"/>
            <a:ext cx="571500" cy="28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4698"/>
            <a:ext cx="6769877" cy="6164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Trust in Practice — </a:t>
            </a:r>
            <a:r>
              <a:rPr sz="3600" b="1" i="0">
                <a:solidFill>
                  <a:srgbClr val="FF6200"/>
                </a:solidFill>
                <a:latin typeface="Calibri"/>
              </a:rPr>
              <a:t>Two Scenarios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03696"/>
            <a:ext cx="5400675" cy="695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1199405"/>
            <a:ext cx="335160" cy="3351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032623"/>
            <a:ext cx="5400675" cy="8286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5293667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195" y="1298376"/>
            <a:ext cx="137070" cy="137219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699" y="5381327"/>
            <a:ext cx="145702" cy="129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6685" y="1171277"/>
            <a:ext cx="504080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6200"/>
                </a:solidFill>
                <a:latin typeface="Calibri"/>
              </a:rPr>
              <a:t>SCENARIO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685" y="1321230"/>
            <a:ext cx="2569071" cy="24688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FFFFF"/>
                </a:solidFill>
                <a:latin typeface="Calibri"/>
              </a:rPr>
              <a:t>The Escalation That Built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5156448"/>
            <a:ext cx="71601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22C55E"/>
                </a:solidFill>
                <a:latin typeface="Calibri"/>
              </a:rPr>
              <a:t>TRUST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5309944"/>
            <a:ext cx="1426517" cy="21122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63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22C55E"/>
                </a:solidFill>
                <a:latin typeface="Calibri"/>
              </a:rPr>
              <a:t>↑ Trust Increased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5546675"/>
            <a:ext cx="2634257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CCCCCC"/>
                </a:solidFill>
                <a:latin typeface="Calibri"/>
              </a:rPr>
              <a:t>Transparency + accountability + follow-through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1701849"/>
            <a:ext cx="5400675" cy="33242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25" y="1854249"/>
            <a:ext cx="5000625" cy="581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1938039"/>
            <a:ext cx="22860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25" y="2504926"/>
            <a:ext cx="5000625" cy="581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2588716"/>
            <a:ext cx="228600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25" y="3155602"/>
            <a:ext cx="5000625" cy="581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3239392"/>
            <a:ext cx="228600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25" y="3806279"/>
            <a:ext cx="5000625" cy="581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3890069"/>
            <a:ext cx="228600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25" y="4456955"/>
            <a:ext cx="5000625" cy="5810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4540746"/>
            <a:ext cx="228600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89248" y="1987450"/>
            <a:ext cx="5030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6200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1939974"/>
            <a:ext cx="4306780" cy="40926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Critical issue detected</a:t>
            </a:r>
            <a:r>
              <a:rPr sz="1209" b="0" i="0">
                <a:solidFill>
                  <a:srgbClr val="CCCCCC"/>
                </a:solidFill>
                <a:latin typeface="Calibri"/>
              </a:rPr>
              <a:t> mid-project — integration failure identified</a:t>
            </a:r>
            <a:r>
              <a:rPr sz="1209" b="0" i="0">
                <a:solidFill>
                  <a:srgbClr val="CCCCCC"/>
                </a:solidFill>
                <a:latin typeface="Calibri"/>
              </a:rPr>
              <a:t> early by the engagement team.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248" y="2638127"/>
            <a:ext cx="5030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6200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2590651"/>
            <a:ext cx="3895035" cy="42919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Client notified immediately</a:t>
            </a:r>
            <a:r>
              <a:rPr sz="1209" b="0" i="0">
                <a:solidFill>
                  <a:srgbClr val="CCCCCC"/>
                </a:solidFill>
                <a:latin typeface="Calibri"/>
              </a:rPr>
              <a:t> — no delay, no minimizing. Full</a:t>
            </a:r>
            <a:r>
              <a:rPr sz="1209" b="0" i="0">
                <a:solidFill>
                  <a:srgbClr val="CCCCCC"/>
                </a:solidFill>
                <a:latin typeface="Calibri"/>
              </a:rPr>
              <a:t> transparency on scope and stakes.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248" y="3288803"/>
            <a:ext cx="5030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6200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3241327"/>
            <a:ext cx="4139231" cy="4170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Outcome Owner named</a:t>
            </a:r>
            <a:r>
              <a:rPr sz="1209" b="0" i="0">
                <a:solidFill>
                  <a:srgbClr val="CCCCCC"/>
                </a:solidFill>
                <a:latin typeface="Calibri"/>
              </a:rPr>
              <a:t> — clear accountability assigned with a</a:t>
            </a:r>
            <a:r>
              <a:rPr sz="1209" b="0" i="0">
                <a:solidFill>
                  <a:srgbClr val="CCCCCC"/>
                </a:solidFill>
                <a:latin typeface="Calibri"/>
              </a:rPr>
              <a:t> defined resolution path communicated.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248" y="3939480"/>
            <a:ext cx="5030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6200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3892004"/>
            <a:ext cx="4507441" cy="3958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Issue closed on committed timeline</a:t>
            </a:r>
            <a:r>
              <a:rPr sz="1209" b="0" i="0">
                <a:solidFill>
                  <a:srgbClr val="CCCCCC"/>
                </a:solidFill>
                <a:latin typeface="Calibri"/>
              </a:rPr>
              <a:t> — follow-through demonstrated</a:t>
            </a:r>
            <a:r>
              <a:rPr sz="1209" b="0" i="0">
                <a:solidFill>
                  <a:srgbClr val="CCCCCC"/>
                </a:solidFill>
                <a:latin typeface="Calibri"/>
              </a:rPr>
              <a:t> under real pressure.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248" y="4590157"/>
            <a:ext cx="5030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6200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4542680"/>
            <a:ext cx="4162991" cy="43212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CCCCCC"/>
                </a:solidFill>
                <a:latin typeface="Calibri"/>
              </a:rPr>
              <a:t>Engagement experienced a </a:t>
            </a:r>
            <a:r>
              <a:rPr sz="1209" b="1" i="0">
                <a:solidFill>
                  <a:srgbClr val="FFFFFF"/>
                </a:solidFill>
                <a:latin typeface="Calibri"/>
              </a:rPr>
              <a:t>significant problem</a:t>
            </a:r>
            <a:r>
              <a:rPr sz="1209" b="0" i="0">
                <a:solidFill>
                  <a:srgbClr val="CCCCCC"/>
                </a:solidFill>
                <a:latin typeface="Calibri"/>
              </a:rPr>
              <a:t> — yet the client</a:t>
            </a:r>
            <a:r>
              <a:rPr sz="1209" b="0" i="0">
                <a:solidFill>
                  <a:srgbClr val="CCCCCC"/>
                </a:solidFill>
                <a:latin typeface="Calibri"/>
              </a:rPr>
              <a:t> witnessed exactly the behavior needed.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9362" y="1003696"/>
            <a:ext cx="5400675" cy="6953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29387" y="1199405"/>
            <a:ext cx="335160" cy="33516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9362" y="5032623"/>
            <a:ext cx="5400675" cy="8286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29387" y="5293667"/>
            <a:ext cx="304800" cy="3048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8358" y="1298376"/>
            <a:ext cx="137070" cy="137219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17047" y="5381327"/>
            <a:ext cx="129480" cy="129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978848" y="1171277"/>
            <a:ext cx="499616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88888"/>
                </a:solidFill>
                <a:latin typeface="Calibri"/>
              </a:rPr>
              <a:t>SCENARIO 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78848" y="1321230"/>
            <a:ext cx="2770584" cy="24688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FFFFF"/>
                </a:solidFill>
                <a:latin typeface="Calibri"/>
              </a:rPr>
              <a:t>The Smooth Delivery That Didn't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8487" y="5156448"/>
            <a:ext cx="716012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EF4444"/>
                </a:solidFill>
                <a:latin typeface="Calibri"/>
              </a:rPr>
              <a:t>TRUST OUTCOME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8487" y="5309944"/>
            <a:ext cx="1356419" cy="21122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63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EF4444"/>
                </a:solidFill>
                <a:latin typeface="Segoe UI Emoji"/>
              </a:rPr>
              <a:t>✗</a:t>
            </a:r>
            <a:r>
              <a:rPr sz="1512" b="1" i="0">
                <a:solidFill>
                  <a:srgbClr val="EF4444"/>
                </a:solidFill>
                <a:latin typeface="Calibri"/>
              </a:rPr>
              <a:t> Trust Not Built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8487" y="5546675"/>
            <a:ext cx="2901255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CCCCCC"/>
                </a:solidFill>
                <a:latin typeface="Calibri"/>
              </a:rPr>
              <a:t>No reference given · No renewal conversation starts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9362" y="1701849"/>
            <a:ext cx="5400675" cy="332422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29387" y="1854249"/>
            <a:ext cx="5000625" cy="58102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72262" y="1938039"/>
            <a:ext cx="228600" cy="2286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29387" y="2504926"/>
            <a:ext cx="5000625" cy="58102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72262" y="2588716"/>
            <a:ext cx="228600" cy="22860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29387" y="3155602"/>
            <a:ext cx="5000625" cy="58102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72262" y="3239392"/>
            <a:ext cx="228600" cy="2286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29387" y="3806279"/>
            <a:ext cx="5000625" cy="581025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72262" y="3890069"/>
            <a:ext cx="228600" cy="22860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29387" y="4456955"/>
            <a:ext cx="5000625" cy="581025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72262" y="4540746"/>
            <a:ext cx="228600" cy="2286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761410" y="1987450"/>
            <a:ext cx="5030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88888"/>
                </a:solidFill>
                <a:latin typeface="Calibr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15162" y="1939974"/>
            <a:ext cx="3980879" cy="4518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Delivered on time, on budget, to spec</a:t>
            </a:r>
            <a:r>
              <a:rPr sz="1209" b="0" i="0">
                <a:solidFill>
                  <a:srgbClr val="CCCCCC"/>
                </a:solidFill>
                <a:latin typeface="Calibri"/>
              </a:rPr>
              <a:t> — technically flawless</a:t>
            </a:r>
            <a:r>
              <a:rPr sz="1209" b="0" i="0">
                <a:solidFill>
                  <a:srgbClr val="CCCCCC"/>
                </a:solidFill>
                <a:latin typeface="Calibri"/>
              </a:rPr>
              <a:t> execution by every measurable standard.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1410" y="2638127"/>
            <a:ext cx="5030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88888"/>
                </a:solidFill>
                <a:latin typeface="Calibri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15162" y="2590651"/>
            <a:ext cx="4613060" cy="3958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Client never oriented to purpose</a:t>
            </a:r>
            <a:r>
              <a:rPr sz="1209" b="0" i="0">
                <a:solidFill>
                  <a:srgbClr val="CCCCCC"/>
                </a:solidFill>
                <a:latin typeface="Calibri"/>
              </a:rPr>
              <a:t> — what was being built and why was</a:t>
            </a:r>
            <a:r>
              <a:rPr sz="1209" b="0" i="0">
                <a:solidFill>
                  <a:srgbClr val="CCCCCC"/>
                </a:solidFill>
                <a:latin typeface="Calibri"/>
              </a:rPr>
              <a:t> never clearly communicated.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61410" y="3288803"/>
            <a:ext cx="5030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15162" y="3241327"/>
            <a:ext cx="4396916" cy="4174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FFFFFF"/>
                </a:solidFill>
                <a:latin typeface="Calibri"/>
              </a:rPr>
              <a:t>Milestone comms technically accurate</a:t>
            </a:r>
            <a:r>
              <a:rPr sz="1209" b="0" i="0">
                <a:solidFill>
                  <a:srgbClr val="CCCCCC"/>
                </a:solidFill>
                <a:latin typeface="Calibri"/>
              </a:rPr>
              <a:t> but incomprehensible — no</a:t>
            </a:r>
            <a:r>
              <a:rPr sz="1209" b="0" i="0">
                <a:solidFill>
                  <a:srgbClr val="CCCCCC"/>
                </a:solidFill>
                <a:latin typeface="Calibri"/>
              </a:rPr>
              <a:t> meaningful context provided throughout.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1410" y="3939480"/>
            <a:ext cx="5030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88888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15162" y="3892004"/>
            <a:ext cx="4476475" cy="3958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CCCCCC"/>
                </a:solidFill>
                <a:latin typeface="Calibri"/>
              </a:rPr>
              <a:t>At closure, </a:t>
            </a:r>
            <a:r>
              <a:rPr sz="1209" b="1" i="0">
                <a:solidFill>
                  <a:srgbClr val="FFFFFF"/>
                </a:solidFill>
                <a:latin typeface="Calibri"/>
              </a:rPr>
              <a:t>client cannot articulate</a:t>
            </a:r>
            <a:r>
              <a:rPr sz="1209" b="0" i="0">
                <a:solidFill>
                  <a:srgbClr val="CCCCCC"/>
                </a:solidFill>
                <a:latin typeface="Calibri"/>
              </a:rPr>
              <a:t> what they received or what value</a:t>
            </a:r>
            <a:r>
              <a:rPr sz="1209" b="0" i="0">
                <a:solidFill>
                  <a:srgbClr val="CCCCCC"/>
                </a:solidFill>
                <a:latin typeface="Calibri"/>
              </a:rPr>
              <a:t> was delivered.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1410" y="4590157"/>
            <a:ext cx="5030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15162" y="4542680"/>
            <a:ext cx="4444437" cy="3958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93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CCCCCC"/>
                </a:solidFill>
                <a:latin typeface="Calibri"/>
              </a:rPr>
              <a:t>Engagement was </a:t>
            </a:r>
            <a:r>
              <a:rPr sz="1209" b="1" i="0">
                <a:solidFill>
                  <a:srgbClr val="FFFFFF"/>
                </a:solidFill>
                <a:latin typeface="Calibri"/>
              </a:rPr>
              <a:t>technically successful</a:t>
            </a:r>
            <a:r>
              <a:rPr sz="1209" b="0" i="0">
                <a:solidFill>
                  <a:srgbClr val="CCCCCC"/>
                </a:solidFill>
                <a:latin typeface="Calibri"/>
              </a:rPr>
              <a:t> — the trust relationship was</a:t>
            </a:r>
            <a:r>
              <a:rPr sz="1209" b="0" i="0">
                <a:solidFill>
                  <a:srgbClr val="CCCCCC"/>
                </a:solidFill>
                <a:latin typeface="Calibri"/>
              </a:rPr>
              <a:t> never built.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91237" y="1003696"/>
            <a:ext cx="9525" cy="485775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962650" y="3302942"/>
            <a:ext cx="266700" cy="26670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051649" y="3383012"/>
            <a:ext cx="88552" cy="95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FF6200"/>
                </a:solidFill>
                <a:latin typeface="Calibri"/>
              </a:rPr>
              <a:t>VS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7200" y="6082307"/>
            <a:ext cx="11277600" cy="600075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7700" y="6317753"/>
            <a:ext cx="102840" cy="137219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64840" y="6192738"/>
            <a:ext cx="10862558" cy="384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142" b="1" i="0">
                <a:solidFill>
                  <a:srgbClr val="FF6200"/>
                </a:solidFill>
                <a:latin typeface="Calibri"/>
              </a:rPr>
              <a:t>CE Framework Principle:</a:t>
            </a:r>
            <a:r>
              <a:rPr sz="1142" b="0" i="0">
                <a:solidFill>
                  <a:srgbClr val="CCCCCC"/>
                </a:solidFill>
                <a:latin typeface="Calibri"/>
              </a:rPr>
              <a:t> The goal is not a problem-free engagement — it is an engagement where the team's behavior under pressure builds the trust that creates references and</a:t>
            </a:r>
            <a:r>
              <a:rPr sz="1142" b="0" i="0">
                <a:solidFill>
                  <a:srgbClr val="CCCCCC"/>
                </a:solidFill>
                <a:latin typeface="Calibri"/>
              </a:rPr>
              <a:t> renewals.</a:t>
            </a:r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0"/>
            <a:ext cx="12192000" cy="285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