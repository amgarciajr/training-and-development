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76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580" y="224599"/>
            <a:ext cx="6952654" cy="4937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Building Credibility — The First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3996" y="523875"/>
            <a:ext cx="207704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974" b="1" i="0">
                <a:solidFill>
                  <a:srgbClr val="FF6200">
                    <a:alpha val="60000"/>
                  </a:srgbClr>
                </a:solidFill>
                <a:latin typeface="Calibri"/>
              </a:rPr>
              <a:t>CE FRAMEWORK · TRUST ARCHITECTURE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5350817"/>
            <a:ext cx="11087100" cy="676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580" y="1712267"/>
            <a:ext cx="10443815" cy="5730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377" b="0" i="0">
                <a:solidFill>
                  <a:srgbClr val="CCCCCC"/>
                </a:solidFill>
                <a:latin typeface="Calibri"/>
              </a:rPr>
              <a:t>Credibility is the first trust layer — established early in the engagement arc and the foundation upon which Reliability and Referenceability are</a:t>
            </a:r>
            <a:r>
              <a:rPr sz="1377" b="0" i="0">
                <a:solidFill>
                  <a:srgbClr val="CCCCCC"/>
                </a:solidFill>
                <a:latin typeface="Calibri"/>
              </a:rPr>
              <a:t> built. It cannot be retrofitted; it must be earned in the opening moments of the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735" y="5474642"/>
            <a:ext cx="11101134" cy="4271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276" b="1" i="0">
                <a:solidFill>
                  <a:srgbClr val="FF6200"/>
                </a:solidFill>
                <a:latin typeface="Calibri"/>
              </a:rPr>
              <a:t>Key Principle:</a:t>
            </a:r>
            <a:r>
              <a:rPr sz="1276" b="1" i="0">
                <a:solidFill>
                  <a:srgbClr val="FFFFFF"/>
                </a:solidFill>
                <a:latin typeface="Calibri"/>
              </a:rPr>
              <a:t> A team that cannot establish credibility quickly will struggle to recover the engagement regardless of subsequent technical quality — credibility is</a:t>
            </a:r>
            <a:r>
              <a:rPr sz="1276" b="1" i="0">
                <a:solidFill>
                  <a:srgbClr val="FFFFFF"/>
                </a:solidFill>
                <a:latin typeface="Calibri"/>
              </a:rPr>
              <a:t> not recoverable through delivery alone.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2378124"/>
            <a:ext cx="5362575" cy="1419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760" y="2378124"/>
            <a:ext cx="5362575" cy="1419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580" y="3804493"/>
            <a:ext cx="5362575" cy="1409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60" y="3804493"/>
            <a:ext cx="5362575" cy="1409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580" y="2494210"/>
            <a:ext cx="116785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01 / PRE-ENGAGEMENT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580" y="2670571"/>
            <a:ext cx="267473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Pre-Engagement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580" y="2994570"/>
            <a:ext cx="5341278" cy="8411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The team arrives informed — having assessed the client's environment,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constraints, and definition of success before delivery begins. This calibrates the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delivery approach and signals preparation from the first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60" y="2494210"/>
            <a:ext cx="63698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02 / KICKOFF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60" y="2670571"/>
            <a:ext cx="142979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Kickoff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60" y="2994570"/>
            <a:ext cx="5510667" cy="726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The kickoff orients the client clearly and sets expectations with precision and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confidence. A well-framed kickoff communicates that the team understands what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success looks like and how to get there.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580" y="3911054"/>
            <a:ext cx="117990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03 / FIRST DELIVERABLE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580" y="4087415"/>
            <a:ext cx="1503759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First 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580" y="4411414"/>
            <a:ext cx="5406888" cy="747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The first deliverable is the clearest early signal of what the engagement will be.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Precision here builds credibility faster than any other single action — and a miss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here is difficult to recover from.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60" y="3911054"/>
            <a:ext cx="98732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04 / PRIMARY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60" y="4087415"/>
            <a:ext cx="269036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Governance Assessment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60" y="4411414"/>
            <a:ext cx="5391865" cy="8029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CCCCCC"/>
                </a:solidFill>
                <a:latin typeface="Calibri"/>
              </a:rPr>
              <a:t>The primary credibility-building tool. It gives the engagement team an informed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starting point to calibrate their approach, and gives the client a structured</a:t>
            </a:r>
            <a:r>
              <a:rPr sz="1260" b="0" i="0">
                <a:solidFill>
                  <a:srgbClr val="CCCCCC"/>
                </a:solidFill>
                <a:latin typeface="Calibri"/>
              </a:rPr>
              <a:t> experience of working with a team that arrives prepared.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4762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