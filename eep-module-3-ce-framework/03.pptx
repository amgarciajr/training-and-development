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3048000" cy="2857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572000"/>
            <a:ext cx="2286000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7376" y="630882"/>
            <a:ext cx="904875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323850"/>
            <a:ext cx="158234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6200"/>
                </a:solidFill>
                <a:latin typeface="Calibri"/>
              </a:rPr>
              <a:t>CE FRAMEWORK · EEP MODULE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27494"/>
            <a:ext cx="5765155" cy="4023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FFFFFF"/>
                </a:solidFill>
                <a:latin typeface="Calibri"/>
              </a:rPr>
              <a:t>Three Trust Layers — The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9301" y="716607"/>
            <a:ext cx="581173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6200"/>
                </a:solidFill>
                <a:latin typeface="Calibri"/>
              </a:rPr>
              <a:t>SECTION 3.3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114425"/>
            <a:ext cx="10972800" cy="95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758928"/>
            <a:ext cx="10972800" cy="11334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6053" y="5327302"/>
            <a:ext cx="666750" cy="257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41197" y="5327302"/>
            <a:ext cx="657225" cy="2571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2946" y="5327302"/>
            <a:ext cx="942975" cy="2571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5207644"/>
            <a:ext cx="266700" cy="213419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78379" y="5407521"/>
            <a:ext cx="86617" cy="9911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80128" y="5407521"/>
            <a:ext cx="86617" cy="9911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71600" y="4949428"/>
            <a:ext cx="120595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6200"/>
                </a:solidFill>
                <a:latin typeface="Calibri"/>
              </a:rPr>
              <a:t>ARCHITECTURAL PRINCIPLE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147518"/>
            <a:ext cx="4084290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FFFF"/>
                </a:solidFill>
                <a:latin typeface="Calibri"/>
              </a:rPr>
              <a:t>The sequencing is causal — each layer depends on the one before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78797"/>
            <a:ext cx="6696272" cy="3304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CCCCCC"/>
                </a:solidFill>
                <a:latin typeface="Calibri"/>
              </a:rPr>
              <a:t>A team that skips Credibility cannot build Reliability. A team without Reliability cannot produce Referenceability. Skipping layers</a:t>
            </a:r>
            <a:r>
              <a:rPr sz="984" b="0" i="0">
                <a:solidFill>
                  <a:srgbClr val="CCCCCC"/>
                </a:solidFill>
                <a:latin typeface="Calibri"/>
              </a:rPr>
              <a:t> produces fragile trust that collapses under pressure.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6190" y="5081587"/>
            <a:ext cx="56554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FFFF">
                    <a:alpha val="30000"/>
                  </a:srgbClr>
                </a:solidFill>
                <a:latin typeface="Calibri"/>
              </a:rPr>
              <a:t>TRUST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0828" y="5384452"/>
            <a:ext cx="46657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/>
                </a:solidFill>
                <a:latin typeface="Calibri"/>
              </a:rPr>
              <a:t>Credibility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972" y="5384452"/>
            <a:ext cx="453181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/>
                </a:solidFill>
                <a:latin typeface="Calibri"/>
              </a:rPr>
              <a:t>Reliability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47721" y="5384452"/>
            <a:ext cx="73937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B347"/>
                </a:solidFill>
                <a:latin typeface="Calibri"/>
              </a:rPr>
              <a:t>Referenceability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66850" y="2483792"/>
            <a:ext cx="9258300" cy="190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52550" y="2371725"/>
            <a:ext cx="9486900" cy="2476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3375421"/>
            <a:ext cx="3171825" cy="11144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016323" y="3036242"/>
            <a:ext cx="745033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Credibility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7423" y="3537346"/>
            <a:ext cx="2662832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637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FFFFFF"/>
                </a:solidFill>
                <a:latin typeface="Calibri"/>
              </a:rPr>
              <a:t>The client believes we know what we are doing.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7116" y="3745110"/>
            <a:ext cx="2482818" cy="5866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637"/>
              </a:lnSpc>
              <a:spcBef>
                <a:spcPts val="0"/>
              </a:spcBef>
              <a:spcAft>
                <a:spcPts val="0"/>
              </a:spcAft>
            </a:pPr>
            <a:r>
              <a:rPr sz="1056" b="0" i="0">
                <a:solidFill>
                  <a:srgbClr val="CCCCCC"/>
                </a:solidFill>
                <a:latin typeface="Calibri"/>
              </a:rPr>
              <a:t>Established early — in the pre-engagement</a:t>
            </a:r>
            <a:r>
              <a:rPr sz="1056" b="0" i="0">
                <a:solidFill>
                  <a:srgbClr val="CCCCCC"/>
                </a:solidFill>
                <a:latin typeface="Calibri"/>
              </a:rPr>
              <a:t> assessment, kickoff framing, and the first</a:t>
            </a:r>
            <a:r>
              <a:rPr sz="1056" b="0" i="0">
                <a:solidFill>
                  <a:srgbClr val="CCCCCC"/>
                </a:solidFill>
                <a:latin typeface="Calibri"/>
              </a:rPr>
              <a:t> deliverable.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71650" y="1866900"/>
            <a:ext cx="1238250" cy="12382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97310" y="2361902"/>
            <a:ext cx="182909" cy="24378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51757" y="2045642"/>
            <a:ext cx="466725" cy="18097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227957" y="2074217"/>
            <a:ext cx="32176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6200"/>
                </a:solidFill>
                <a:latin typeface="Calibri"/>
              </a:rPr>
              <a:t>LAYER 1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07259" y="3375421"/>
            <a:ext cx="3171825" cy="111442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34198" y="3036242"/>
            <a:ext cx="723602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FFFF"/>
                </a:solidFill>
                <a:latin typeface="Calibri"/>
              </a:rPr>
              <a:t>Reliability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5197" y="3537346"/>
            <a:ext cx="2361455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637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FFFFFF"/>
                </a:solidFill>
                <a:latin typeface="Calibri"/>
              </a:rPr>
              <a:t>The client can predict how we will behave.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6300" y="3745110"/>
            <a:ext cx="2973049" cy="59825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637"/>
              </a:lnSpc>
              <a:spcBef>
                <a:spcPts val="0"/>
              </a:spcBef>
              <a:spcAft>
                <a:spcPts val="0"/>
              </a:spcAft>
            </a:pPr>
            <a:r>
              <a:rPr sz="1056" b="0" i="0">
                <a:solidFill>
                  <a:srgbClr val="CCCCCC"/>
                </a:solidFill>
                <a:latin typeface="Calibri"/>
              </a:rPr>
              <a:t>Built through consistent follow-through, predictable</a:t>
            </a:r>
            <a:r>
              <a:rPr sz="1056" b="0" i="0">
                <a:solidFill>
                  <a:srgbClr val="CCCCCC"/>
                </a:solidFill>
                <a:latin typeface="Calibri"/>
              </a:rPr>
              <a:t> communication rhythms, and behavioral</a:t>
            </a:r>
            <a:r>
              <a:rPr sz="1056" b="0" i="0">
                <a:solidFill>
                  <a:srgbClr val="CCCCCC"/>
                </a:solidFill>
                <a:latin typeface="Calibri"/>
              </a:rPr>
              <a:t> consistency under pressure.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76875" y="1866900"/>
            <a:ext cx="1238250" cy="12382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74109" y="2361902"/>
            <a:ext cx="243780" cy="24378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58916" y="2045642"/>
            <a:ext cx="466725" cy="18097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935116" y="2074217"/>
            <a:ext cx="32176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6200"/>
                </a:solidFill>
                <a:latin typeface="Calibri"/>
              </a:rPr>
              <a:t>LAYER 2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14419" y="3375421"/>
            <a:ext cx="3171825" cy="90487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212758" y="3036242"/>
            <a:ext cx="1180802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B347"/>
                </a:solidFill>
                <a:latin typeface="Calibri"/>
              </a:rPr>
              <a:t>Referenceability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5875" y="3537346"/>
            <a:ext cx="2734419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637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FFFFFF"/>
                </a:solidFill>
                <a:latin typeface="Calibri"/>
              </a:rPr>
              <a:t>The client actively advocates for working with us.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77535" y="3745110"/>
            <a:ext cx="3005701" cy="499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637"/>
              </a:lnSpc>
              <a:spcBef>
                <a:spcPts val="0"/>
              </a:spcBef>
              <a:spcAft>
                <a:spcPts val="0"/>
              </a:spcAft>
            </a:pPr>
            <a:r>
              <a:rPr sz="1056" b="0" i="0">
                <a:solidFill>
                  <a:srgbClr val="CCCCCC"/>
                </a:solidFill>
                <a:latin typeface="Calibri"/>
              </a:rPr>
              <a:t>The ultimate output — the client stakes their own</a:t>
            </a:r>
            <a:r>
              <a:rPr sz="1056" b="0" i="0">
                <a:solidFill>
                  <a:srgbClr val="CCCCCC"/>
                </a:solidFill>
                <a:latin typeface="Calibri"/>
              </a:rPr>
              <a:t> professional reputation on recommending the team.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24950" y="1809750"/>
            <a:ext cx="1352550" cy="13525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65940" y="2361902"/>
            <a:ext cx="274290" cy="24378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66076" y="2045642"/>
            <a:ext cx="466725" cy="18097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642276" y="2074217"/>
            <a:ext cx="32176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B347"/>
                </a:solidFill>
                <a:latin typeface="Calibri"/>
              </a:rPr>
              <a:t>LAYER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