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0"/>
            <a:ext cx="32385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19500"/>
            <a:ext cx="2095500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095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94287"/>
            <a:ext cx="6702581" cy="522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Module 3 Summary &amp;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914"/>
            <a:ext cx="243706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6200">
                    <a:alpha val="90000"/>
                  </a:srgbClr>
                </a:solidFill>
                <a:latin typeface="Calibri"/>
              </a:rPr>
              <a:t>EEP · MODULE 3 — THE CE FRAMEWORK APPLIED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216050"/>
            <a:ext cx="5562600" cy="1238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70" y="2431256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216050"/>
            <a:ext cx="5562600" cy="1238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570" y="2431256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15630"/>
            <a:ext cx="5562600" cy="1238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70" y="3830835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615630"/>
            <a:ext cx="5562600" cy="1238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570" y="3830835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001" y="2553146"/>
            <a:ext cx="205680" cy="18290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5460" y="2553146"/>
            <a:ext cx="182760" cy="18290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460" y="3952726"/>
            <a:ext cx="182760" cy="18290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8380" y="3952726"/>
            <a:ext cx="137070" cy="1829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7660" y="2410551"/>
            <a:ext cx="2726977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Three Trust Layers — Causally Sequenced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7660" y="2663279"/>
            <a:ext cx="4672069" cy="577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Credibility </a:t>
            </a:r>
            <a:r>
              <a:rPr sz="1104" b="0" i="0">
                <a:solidFill>
                  <a:srgbClr val="CCCCCC"/>
                </a:solidFill>
                <a:latin typeface="Cambria Math"/>
              </a:rPr>
              <a:t>→ 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Reliability </a:t>
            </a:r>
            <a:r>
              <a:rPr sz="1104" b="0" i="0">
                <a:solidFill>
                  <a:srgbClr val="CCCCCC"/>
                </a:solidFill>
                <a:latin typeface="Cambria Math"/>
              </a:rPr>
              <a:t>→ 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Referenceability are not interchangeable. Each layer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must be earned before the next can be built — skipping steps collapses the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architecture.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2660" y="2410551"/>
            <a:ext cx="3087737" cy="1920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Three Dimensions — All Active Simultaneously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2660" y="2663279"/>
            <a:ext cx="4549434" cy="577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Know + Do + Tell must operate together at all times. A deficit in any single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dimension — even strong performance in the other two — erodes the entire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trust relationship.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7660" y="3810130"/>
            <a:ext cx="2541984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Trust Is Built by Design, Not by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7660" y="4062858"/>
            <a:ext cx="4521228" cy="60334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Technical delivery alone does not produce trust. Trust is engineered through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deliberate, consistent behavior — transparency, accountability, and follow-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through under pressure.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2660" y="3810130"/>
            <a:ext cx="3688705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/>
                </a:solidFill>
                <a:latin typeface="Calibri"/>
              </a:rPr>
              <a:t>Governance Assessment App — Primary Credibility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2660" y="4062858"/>
            <a:ext cx="4336664" cy="6579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01"/>
              </a:lnSpc>
              <a:spcBef>
                <a:spcPts val="0"/>
              </a:spcBef>
              <a:spcAft>
                <a:spcPts val="0"/>
              </a:spcAft>
            </a:pPr>
            <a:r>
              <a:rPr sz="1104" b="0" i="0">
                <a:solidFill>
                  <a:srgbClr val="CCCCCC"/>
                </a:solidFill>
                <a:latin typeface="Calibri"/>
              </a:rPr>
              <a:t>The App gives teams an informed starting point before delivery begins —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establishing credibility with the client through a structured, preparation-</a:t>
            </a:r>
            <a:r>
              <a:rPr sz="1104" b="0" i="0">
                <a:solidFill>
                  <a:srgbClr val="CCCCCC"/>
                </a:solidFill>
                <a:latin typeface="Calibri"/>
              </a:rPr>
              <a:t> demonstrating experience at kickoff.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5898058"/>
            <a:ext cx="11277600" cy="457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25" y="6037064"/>
            <a:ext cx="159990" cy="1829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7715" y="6062607"/>
            <a:ext cx="395287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UP NEXT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31602" y="6039296"/>
            <a:ext cx="9366782" cy="219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Module 4 — Advanced Integration &amp; Mastery: Capstone</a:t>
            </a:r>
            <a:r>
              <a:rPr sz="1080" b="0" i="0">
                <a:solidFill>
                  <a:srgbClr val="CCCCCC"/>
                </a:solidFill>
                <a:latin typeface="Calibri"/>
              </a:rPr>
              <a:t>  ·  Applying the CE Framework across teams, organizations, and complex multi-stakeholder engagements.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8417"/>
            <a:ext cx="3092350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>
                    <a:alpha val="30000"/>
                  </a:srgbClr>
                </a:solidFill>
                <a:latin typeface="Calibri"/>
              </a:rPr>
              <a:t>ENGAGEMENT EXCELLENCE PROGRAM (EEP) · AUTHOR: MIKE GARCIA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31649" y="6588417"/>
            <a:ext cx="203150" cy="13167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>
                    <a:alpha val="30000"/>
                  </a:srgbClr>
                </a:solidFill>
                <a:latin typeface="Calibri"/>
              </a:rPr>
              <a:t>8 / 8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