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883890"/>
            <a:ext cx="571500" cy="28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96227"/>
            <a:ext cx="8212364" cy="6005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Know · Do · Tell</a:t>
            </a:r>
            <a:r>
              <a:rPr sz="3600" b="1" i="0">
                <a:solidFill>
                  <a:srgbClr val="FFFFFF"/>
                </a:solidFill>
                <a:latin typeface="Calibri"/>
              </a:rPr>
              <a:t> — The Three Dimensions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153989"/>
            <a:ext cx="5553075" cy="1600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995" y="237678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595" y="3357711"/>
            <a:ext cx="11430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215" y="2513855"/>
            <a:ext cx="182760" cy="18290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0501" y="3422302"/>
            <a:ext cx="68460" cy="686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9595" y="2541453"/>
            <a:ext cx="516135" cy="22311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464" b="1" i="0">
                <a:solidFill>
                  <a:srgbClr val="FFFFFF"/>
                </a:solidFill>
                <a:latin typeface="Calibri"/>
              </a:rPr>
              <a:t>KNOW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9595" y="2843510"/>
            <a:ext cx="4671357" cy="4368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Client believes we understand their environment, constraints, and definition</a:t>
            </a:r>
            <a:r>
              <a:rPr sz="1139" b="0" i="0">
                <a:solidFill>
                  <a:srgbClr val="CCCCCC"/>
                </a:solidFill>
                <a:latin typeface="Calibri"/>
              </a:rPr>
              <a:t> of success — not just the technical scope.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4652" y="3390007"/>
            <a:ext cx="83165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Client Confidence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725" y="2162175"/>
            <a:ext cx="28575" cy="15906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9595" y="2362442"/>
            <a:ext cx="628054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>
                    <a:alpha val="85000"/>
                  </a:srgbClr>
                </a:solidFill>
                <a:latin typeface="Calibri"/>
              </a:rPr>
              <a:t>DIMENSION 1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9790" y="2153989"/>
            <a:ext cx="5553075" cy="1600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2585" y="2376785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12185" y="3357711"/>
            <a:ext cx="12001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9805" y="2513855"/>
            <a:ext cx="182760" cy="18290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3091" y="3422302"/>
            <a:ext cx="68460" cy="686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12185" y="2541453"/>
            <a:ext cx="242887" cy="22311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464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2185" y="2843510"/>
            <a:ext cx="4377035" cy="4503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Client observes us executing in precise alignment with what we said we</a:t>
            </a:r>
            <a:r>
              <a:rPr sz="1139" b="0" i="0">
                <a:solidFill>
                  <a:srgbClr val="CCCCCC"/>
                </a:solidFill>
                <a:latin typeface="Calibri"/>
              </a:rPr>
              <a:t> would do — commitments kept, milestones met.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7242" y="3390007"/>
            <a:ext cx="89103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Execution Integrity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0" y="2162175"/>
            <a:ext cx="28575" cy="15906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12185" y="2362442"/>
            <a:ext cx="628054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>
                    <a:alpha val="85000"/>
                  </a:srgbClr>
                </a:solidFill>
                <a:latin typeface="Calibri"/>
              </a:rPr>
              <a:t>DIMENSION 2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930848"/>
            <a:ext cx="5553075" cy="1600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995" y="4153644"/>
            <a:ext cx="457200" cy="4572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89595" y="5134570"/>
            <a:ext cx="140970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4295" y="4290714"/>
            <a:ext cx="228451" cy="182909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0501" y="5199161"/>
            <a:ext cx="68460" cy="686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89595" y="4318312"/>
            <a:ext cx="339923" cy="22311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464" b="1" i="0">
                <a:solidFill>
                  <a:srgbClr val="FFFFFF"/>
                </a:solidFill>
                <a:latin typeface="Calibri"/>
              </a:rPr>
              <a:t>TELL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9595" y="4620369"/>
            <a:ext cx="4137898" cy="4638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Client experiences proactive, honest communication delivered with</a:t>
            </a:r>
            <a:r>
              <a:rPr sz="1139" b="0" i="0">
                <a:solidFill>
                  <a:srgbClr val="CCCCCC"/>
                </a:solidFill>
                <a:latin typeface="Calibri"/>
              </a:rPr>
              <a:t> appropriate context — before they have to ask.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4652" y="5166866"/>
            <a:ext cx="109924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Proactive Transparency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725" y="3943350"/>
            <a:ext cx="28575" cy="15906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89595" y="4139301"/>
            <a:ext cx="628054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>
                    <a:alpha val="85000"/>
                  </a:srgbClr>
                </a:solidFill>
                <a:latin typeface="Calibri"/>
              </a:rPr>
              <a:t>DIMENSION 3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9790" y="3930848"/>
            <a:ext cx="5553075" cy="16002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2585" y="4153644"/>
            <a:ext cx="457200" cy="4572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12185" y="5134570"/>
            <a:ext cx="1066800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39805" y="4290714"/>
            <a:ext cx="182760" cy="182909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13091" y="5199161"/>
            <a:ext cx="68460" cy="686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12185" y="4318312"/>
            <a:ext cx="1916459" cy="22311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57"/>
              </a:lnSpc>
              <a:spcBef>
                <a:spcPts val="0"/>
              </a:spcBef>
              <a:spcAft>
                <a:spcPts val="0"/>
              </a:spcAft>
            </a:pPr>
            <a:r>
              <a:rPr sz="1464" b="1" i="0">
                <a:solidFill>
                  <a:srgbClr val="FF6200"/>
                </a:solidFill>
                <a:latin typeface="Calibri"/>
              </a:rPr>
              <a:t>All Three Simultaneously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2185" y="4620369"/>
            <a:ext cx="4347143" cy="5012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E0C8B8"/>
                </a:solidFill>
                <a:latin typeface="Calibri"/>
              </a:rPr>
              <a:t>A deficit in any single dimension erodes the entire trust architecture —</a:t>
            </a:r>
            <a:r>
              <a:rPr sz="1139" b="0" i="0">
                <a:solidFill>
                  <a:srgbClr val="E0C8B8"/>
                </a:solidFill>
                <a:latin typeface="Calibri"/>
              </a:rPr>
              <a:t>regardless of how strong the other two dimensions are.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7242" y="5166866"/>
            <a:ext cx="75083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Non-Negotiable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91250" y="3943350"/>
            <a:ext cx="28575" cy="159067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012185" y="4139301"/>
            <a:ext cx="659010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>
                    <a:alpha val="85000"/>
                  </a:srgbClr>
                </a:solidFill>
                <a:latin typeface="Calibri"/>
              </a:rPr>
              <a:t>CRITICAL RULE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82250" y="6542727"/>
            <a:ext cx="1352550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FFFF">
                    <a:alpha val="20000"/>
                  </a:srgbClr>
                </a:solidFill>
                <a:latin typeface="Calibri"/>
              </a:rPr>
              <a:t>EEP · MODULE 3 · SECTION 3.3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