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47625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1162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3983" y="690413"/>
            <a:ext cx="1895475" cy="276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7700" y="323850"/>
            <a:ext cx="1384250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6200"/>
                </a:solidFill>
                <a:latin typeface="Calibri"/>
              </a:rPr>
              <a:t>CE FRAMEWORK · MODULE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529780"/>
            <a:ext cx="6252120" cy="43586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432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FFFFFF"/>
                </a:solidFill>
                <a:latin typeface="Calibri"/>
              </a:rPr>
              <a:t>From Delivery to Strategic Partnership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66858" y="757088"/>
            <a:ext cx="1610766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FF6200"/>
                </a:solidFill>
                <a:latin typeface="Calibri"/>
              </a:rPr>
              <a:t>EEP · THE CE FRAMEWORK APPLIED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4710410"/>
            <a:ext cx="10896600" cy="971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025" y="4990504"/>
            <a:ext cx="41910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89217" y="4971454"/>
            <a:ext cx="9525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0194" y="5108525"/>
            <a:ext cx="182760" cy="1829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09725" y="4900910"/>
            <a:ext cx="1214735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839" b="1" i="0">
                <a:solidFill>
                  <a:srgbClr val="FF6200"/>
                </a:solidFill>
                <a:latin typeface="Calibri"/>
              </a:rPr>
              <a:t>CE FRAMEWORK PRINCIPLE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9725" y="5089475"/>
            <a:ext cx="5950892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FFFF"/>
                </a:solidFill>
                <a:latin typeface="Calibri"/>
              </a:rPr>
              <a:t>The CE Framework is the map for this journey — from first engagement to trusted advisor.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725" y="5345013"/>
            <a:ext cx="4723209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CCCCCC"/>
                </a:solidFill>
                <a:latin typeface="Calibri"/>
              </a:rPr>
              <a:t>Trust is built by design, not by default. Each phase is causally sequenced and cannot be skipped.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82187" y="5127277"/>
            <a:ext cx="1347787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FFFFFF">
                    <a:alpha val="35000"/>
                  </a:srgbClr>
                </a:solidFill>
                <a:latin typeface="Calibri"/>
              </a:rPr>
              <a:t>EEP MODULE 3 · MIKE GARCIA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19200" y="2737544"/>
            <a:ext cx="9753600" cy="285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6325" y="2600325"/>
            <a:ext cx="10039350" cy="3143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52550" y="2343150"/>
            <a:ext cx="1238250" cy="1238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2950" y="3717131"/>
            <a:ext cx="2457450" cy="7239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82526" y="2831008"/>
            <a:ext cx="182909" cy="2437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802755" y="2385119"/>
            <a:ext cx="342751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6200"/>
                </a:solidFill>
                <a:latin typeface="Calibri"/>
              </a:rPr>
              <a:t>PHASE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6428" y="3467248"/>
            <a:ext cx="615255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FFFFF"/>
                </a:solidFill>
                <a:latin typeface="Calibri"/>
              </a:rPr>
              <a:t>Credibility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018" y="3831431"/>
            <a:ext cx="2249016" cy="5461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CCCCCC"/>
                </a:solidFill>
                <a:latin typeface="Calibri"/>
              </a:rPr>
              <a:t>Arrive prepared. Demonstrate knowledge of</a:t>
            </a:r>
            <a:r>
              <a:rPr sz="936" b="0" i="0">
                <a:solidFill>
                  <a:srgbClr val="CCCCCC"/>
                </a:solidFill>
                <a:latin typeface="Calibri"/>
              </a:rPr>
              <a:t> the client's environment. Deliver the first</a:t>
            </a:r>
            <a:r>
              <a:rPr sz="936" b="0" i="0">
                <a:solidFill>
                  <a:srgbClr val="CCCCCC"/>
                </a:solidFill>
                <a:latin typeface="Calibri"/>
              </a:rPr>
              <a:t> milestone with precision.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09750" y="2628900"/>
            <a:ext cx="323850" cy="3238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05275" y="2343150"/>
            <a:ext cx="1238250" cy="12382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90912" y="3717131"/>
            <a:ext cx="2457450" cy="7239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00128" y="2831008"/>
            <a:ext cx="243780" cy="2437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550717" y="2385119"/>
            <a:ext cx="342751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6200"/>
                </a:solidFill>
                <a:latin typeface="Calibri"/>
              </a:rPr>
              <a:t>PHASE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3320" y="3467248"/>
            <a:ext cx="597544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FFFFF"/>
                </a:solidFill>
                <a:latin typeface="Calibri"/>
              </a:rPr>
              <a:t>Reliability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98081" y="3831431"/>
            <a:ext cx="2170683" cy="487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CCCCCC"/>
                </a:solidFill>
                <a:latin typeface="Calibri"/>
              </a:rPr>
              <a:t>Follow through consistently. Communicate</a:t>
            </a:r>
            <a:r>
              <a:rPr sz="936" b="0" i="0">
                <a:solidFill>
                  <a:srgbClr val="CCCCCC"/>
                </a:solidFill>
                <a:latin typeface="Calibri"/>
              </a:rPr>
              <a:t> proactively. Behave predictably under</a:t>
            </a:r>
            <a:r>
              <a:rPr sz="936" b="0" i="0">
                <a:solidFill>
                  <a:srgbClr val="CCCCCC"/>
                </a:solidFill>
                <a:latin typeface="Calibri"/>
              </a:rPr>
              <a:t> pressure.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62475" y="2628900"/>
            <a:ext cx="323850" cy="3238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48475" y="2343150"/>
            <a:ext cx="1238250" cy="12382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8726" y="3717131"/>
            <a:ext cx="2457450" cy="7239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47942" y="2831008"/>
            <a:ext cx="243780" cy="2437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298531" y="2385119"/>
            <a:ext cx="342751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6200"/>
                </a:solidFill>
                <a:latin typeface="Calibri"/>
              </a:rPr>
              <a:t>PHASE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82271" y="3467248"/>
            <a:ext cx="975121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FFFFF"/>
                </a:solidFill>
                <a:latin typeface="Calibri"/>
              </a:rPr>
              <a:t>Referenceability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831431"/>
            <a:ext cx="2263579" cy="487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CCCCCC"/>
                </a:solidFill>
                <a:latin typeface="Calibri"/>
              </a:rPr>
              <a:t>Client advocates for the team. Initiates</a:t>
            </a:r>
            <a:r>
              <a:rPr sz="936" b="0" i="0">
                <a:solidFill>
                  <a:srgbClr val="CCCCCC"/>
                </a:solidFill>
                <a:latin typeface="Calibri"/>
              </a:rPr>
              <a:t> expansion conversations. Serves as an active</a:t>
            </a:r>
            <a:r>
              <a:rPr sz="936" b="0" i="0">
                <a:solidFill>
                  <a:srgbClr val="CCCCCC"/>
                </a:solidFill>
                <a:latin typeface="Calibri"/>
              </a:rPr>
              <a:t> reference.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05675" y="2628900"/>
            <a:ext cx="323850" cy="3238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34525" y="2286000"/>
            <a:ext cx="1352550" cy="13525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86688" y="3717131"/>
            <a:ext cx="2457450" cy="7239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65394" y="2831008"/>
            <a:ext cx="304800" cy="24378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046493" y="2385119"/>
            <a:ext cx="342751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6200"/>
                </a:solidFill>
                <a:latin typeface="Calibri"/>
              </a:rPr>
              <a:t>PHASE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92270" y="3467248"/>
            <a:ext cx="1251198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FFFFF"/>
                </a:solidFill>
                <a:latin typeface="Calibri"/>
              </a:rPr>
              <a:t>Strategic Partnership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2214" y="3831431"/>
            <a:ext cx="2277068" cy="50479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ts val="1357"/>
              </a:lnSpc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CCCCCC"/>
                </a:solidFill>
                <a:latin typeface="Calibri"/>
              </a:rPr>
              <a:t>Client treats the team as a trusted advisor —</a:t>
            </a:r>
            <a:r>
              <a:rPr sz="936" b="0" i="0">
                <a:solidFill>
                  <a:srgbClr val="CCCCCC"/>
                </a:solidFill>
                <a:latin typeface="Calibri"/>
              </a:rPr>
              <a:t>not a vendor. The relationship defines future</a:t>
            </a:r>
            <a:r>
              <a:rPr sz="936" b="0" i="0">
                <a:solidFill>
                  <a:srgbClr val="CCCCCC"/>
                </a:solidFill>
                <a:latin typeface="Calibri"/>
              </a:rPr>
              <a:t> engagements.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048875" y="2628900"/>
            <a:ext cx="323850" cy="323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